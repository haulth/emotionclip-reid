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800" b="1">
                <a:solidFill>
                  <a:srgbClr val="10243E"/>
                </a:solidFill>
                <a:latin typeface="Arial"/>
              </a:rPr>
              <a:t>EmotionCLIP-ReID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80" b="0">
                <a:solidFill>
                  <a:srgbClr val="64748B"/>
                </a:solidFill>
                <a:latin typeface="Arial"/>
              </a:rPr>
              <a:t>01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E500FC-7695-E833-53AF-7F1B105C4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1492652"/>
            <a:ext cx="9573921" cy="36378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601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75520" cy="53035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>
                <a:solidFill>
                  <a:srgbClr val="10243E"/>
                </a:solidFill>
                <a:latin typeface="Arial"/>
              </a:rPr>
              <a:t>Vấn đề cần giải quyết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607040" cy="3474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50" b="0" dirty="0">
                <a:solidFill>
                  <a:srgbClr val="64748B"/>
                </a:solidFill>
                <a:latin typeface="Arial"/>
              </a:rPr>
              <a:t>FER in-the-wild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cần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độ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ổn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định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và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khả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năng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diễn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giải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,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không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chỉ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accuracy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tổng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2014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4754880" cy="4114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300" b="1">
                <a:solidFill>
                  <a:srgbClr val="10243E"/>
                </a:solidFill>
                <a:latin typeface="Arial"/>
              </a:rPr>
              <a:t>Bối cảnh thực tế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76272"/>
            <a:ext cx="4937760" cy="2057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  <a:defRPr sz="1720">
                <a:solidFill>
                  <a:srgbClr val="475569"/>
                </a:solidFill>
                <a:latin typeface="Arial"/>
              </a:defRPr>
            </a:pPr>
            <a:r>
              <a:rPr dirty="0"/>
              <a:t>• Occlusion 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mất</a:t>
            </a:r>
            <a:r>
              <a:rPr dirty="0"/>
              <a:t> </a:t>
            </a:r>
            <a:r>
              <a:rPr dirty="0" err="1"/>
              <a:t>tín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vùng</a:t>
            </a:r>
            <a:r>
              <a:rPr dirty="0"/>
              <a:t> </a:t>
            </a:r>
            <a:r>
              <a:rPr dirty="0" err="1"/>
              <a:t>mắt</a:t>
            </a:r>
            <a:r>
              <a:rPr dirty="0"/>
              <a:t>/</a:t>
            </a:r>
            <a:r>
              <a:rPr dirty="0" err="1"/>
              <a:t>miệng</a:t>
            </a:r>
            <a:r>
              <a:rPr dirty="0"/>
              <a:t>.</a:t>
            </a:r>
          </a:p>
          <a:p>
            <a:pPr>
              <a:lnSpc>
                <a:spcPct val="105000"/>
              </a:lnSpc>
              <a:defRPr sz="1720">
                <a:solidFill>
                  <a:srgbClr val="475569"/>
                </a:solidFill>
                <a:latin typeface="Arial"/>
              </a:defRPr>
            </a:pPr>
            <a:r>
              <a:rPr dirty="0"/>
              <a:t>• Pose shift </a:t>
            </a:r>
            <a:r>
              <a:rPr dirty="0" err="1"/>
              <a:t>và</a:t>
            </a:r>
            <a:r>
              <a:rPr dirty="0"/>
              <a:t> domain shift 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biểu</a:t>
            </a:r>
            <a:r>
              <a:rPr dirty="0"/>
              <a:t>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kém</a:t>
            </a:r>
            <a:r>
              <a:rPr dirty="0"/>
              <a:t> </a:t>
            </a:r>
            <a:r>
              <a:rPr dirty="0" err="1"/>
              <a:t>ổn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.</a:t>
            </a:r>
          </a:p>
          <a:p>
            <a:pPr>
              <a:lnSpc>
                <a:spcPct val="105000"/>
              </a:lnSpc>
              <a:defRPr sz="1720">
                <a:solidFill>
                  <a:srgbClr val="475569"/>
                </a:solidFill>
                <a:latin typeface="Arial"/>
              </a:defRPr>
            </a:pPr>
            <a:r>
              <a:rPr dirty="0"/>
              <a:t>• Label ambiguity </a:t>
            </a:r>
            <a:r>
              <a:rPr dirty="0" err="1"/>
              <a:t>khiến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dễ</a:t>
            </a:r>
            <a:r>
              <a:rPr dirty="0"/>
              <a:t> overconfident.</a:t>
            </a:r>
          </a:p>
          <a:p>
            <a:pPr>
              <a:lnSpc>
                <a:spcPct val="105000"/>
              </a:lnSpc>
              <a:defRPr sz="1720">
                <a:solidFill>
                  <a:srgbClr val="475569"/>
                </a:solidFill>
                <a:latin typeface="Arial"/>
              </a:defRPr>
            </a:pPr>
            <a:r>
              <a:rPr dirty="0"/>
              <a:t>• Accuracy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robustness.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755648"/>
            <a:ext cx="5394960" cy="2926080"/>
          </a:xfrm>
          <a:prstGeom prst="roundRect">
            <a:avLst/>
          </a:prstGeom>
          <a:solidFill>
            <a:srgbClr val="ECFDF3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9632" y="1993392"/>
            <a:ext cx="475488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16A34A"/>
                </a:solidFill>
                <a:latin typeface="Arial"/>
              </a:rPr>
              <a:t>Research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2487168"/>
            <a:ext cx="4462083" cy="12680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dirty="0" err="1">
                <a:solidFill>
                  <a:srgbClr val="10243E"/>
                </a:solidFill>
                <a:latin typeface="Arial"/>
              </a:rPr>
              <a:t>Xây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dựng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mô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hình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FER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ổn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định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hơn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và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có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thể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diễn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giải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dựa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trên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tín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hiệu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biểu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cảm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có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nghĩa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,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thay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vì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chỉ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tối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ưu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bộ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phân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loại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một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243E"/>
                </a:solidFill>
                <a:latin typeface="Arial"/>
              </a:rPr>
              <a:t>nhãn</a:t>
            </a:r>
            <a:r>
              <a:rPr sz="2000" b="1" dirty="0">
                <a:solidFill>
                  <a:srgbClr val="10243E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3950208"/>
            <a:ext cx="4663440" cy="49859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 dirty="0" err="1">
                <a:solidFill>
                  <a:srgbClr val="475569"/>
                </a:solidFill>
                <a:latin typeface="Arial"/>
              </a:rPr>
              <a:t>Điểm</a:t>
            </a:r>
            <a:r>
              <a:rPr sz="15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475569"/>
                </a:solidFill>
                <a:latin typeface="Arial"/>
              </a:rPr>
              <a:t>cần</a:t>
            </a:r>
            <a:r>
              <a:rPr sz="15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475569"/>
                </a:solidFill>
                <a:latin typeface="Arial"/>
              </a:rPr>
              <a:t>chứng</a:t>
            </a:r>
            <a:r>
              <a:rPr sz="15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475569"/>
                </a:solidFill>
                <a:latin typeface="Arial"/>
              </a:rPr>
              <a:t>minh</a:t>
            </a:r>
            <a:r>
              <a:rPr sz="1500" b="0" dirty="0">
                <a:solidFill>
                  <a:srgbClr val="475569"/>
                </a:solidFill>
                <a:latin typeface="Arial"/>
              </a:rPr>
              <a:t>: macro-F1, balanced accuracy, ablation, calibration </a:t>
            </a:r>
            <a:r>
              <a:rPr sz="1500" b="0" dirty="0" err="1">
                <a:solidFill>
                  <a:srgbClr val="475569"/>
                </a:solidFill>
                <a:latin typeface="Arial"/>
              </a:rPr>
              <a:t>và</a:t>
            </a:r>
            <a:r>
              <a:rPr sz="1500" b="0" dirty="0">
                <a:solidFill>
                  <a:srgbClr val="475569"/>
                </a:solidFill>
                <a:latin typeface="Arial"/>
              </a:rPr>
              <a:t> subset </a:t>
            </a:r>
            <a:r>
              <a:rPr sz="1500" b="0" dirty="0" err="1">
                <a:solidFill>
                  <a:srgbClr val="475569"/>
                </a:solidFill>
                <a:latin typeface="Arial"/>
              </a:rPr>
              <a:t>khó</a:t>
            </a:r>
            <a:r>
              <a:rPr sz="1500" b="0" dirty="0">
                <a:solidFill>
                  <a:srgbClr val="475569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80" b="0">
                <a:solidFill>
                  <a:srgbClr val="64748B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601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75520" cy="53035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>
                <a:solidFill>
                  <a:srgbClr val="10243E"/>
                </a:solidFill>
                <a:latin typeface="Arial"/>
              </a:rPr>
              <a:t>Tổng hợp tài liệu: các nhánh hội tụ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607040" cy="3474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rial"/>
              </a:rPr>
              <a:t>Literature review được dùng để định vị khoảng trống, không trình bày như danh mục paper.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2014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84048" cy="274320"/>
          </a:xfrm>
          <a:prstGeom prst="round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55064"/>
            <a:ext cx="274320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Arial"/>
              </a:rPr>
              <a:t>CLIP/VLM adaptation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655064"/>
            <a:ext cx="7132320" cy="3474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50" b="0">
                <a:solidFill>
                  <a:srgbClr val="475569"/>
                </a:solidFill>
                <a:latin typeface="Arial"/>
              </a:rPr>
              <a:t>Prompt/adapter thích nghi semantic space, nhưng còn ở cấp lớp.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04872"/>
            <a:ext cx="384048" cy="274320"/>
          </a:xfrm>
          <a:prstGeom prst="roundRect">
            <a:avLst/>
          </a:prstGeom>
          <a:solidFill>
            <a:srgbClr val="16A34A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68296"/>
            <a:ext cx="274320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Arial"/>
              </a:rPr>
              <a:t>Language-guided ReID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8296"/>
            <a:ext cx="7132320" cy="3474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50" b="0" dirty="0">
                <a:solidFill>
                  <a:srgbClr val="475569"/>
                </a:solidFill>
                <a:latin typeface="Arial"/>
              </a:rPr>
              <a:t>Text </a:t>
            </a:r>
            <a:r>
              <a:rPr sz="1550" b="0" dirty="0" err="1">
                <a:solidFill>
                  <a:srgbClr val="475569"/>
                </a:solidFill>
                <a:latin typeface="Arial"/>
              </a:rPr>
              <a:t>có</a:t>
            </a:r>
            <a:r>
              <a:rPr sz="15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475569"/>
                </a:solidFill>
                <a:latin typeface="Arial"/>
              </a:rPr>
              <a:t>thể</a:t>
            </a:r>
            <a:r>
              <a:rPr sz="15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475569"/>
                </a:solidFill>
                <a:latin typeface="Arial"/>
              </a:rPr>
              <a:t>làm</a:t>
            </a:r>
            <a:r>
              <a:rPr sz="1550" b="0" dirty="0">
                <a:solidFill>
                  <a:srgbClr val="475569"/>
                </a:solidFill>
                <a:latin typeface="Arial"/>
              </a:rPr>
              <a:t> anchor </a:t>
            </a:r>
            <a:r>
              <a:rPr sz="1550" b="0" dirty="0" err="1">
                <a:solidFill>
                  <a:srgbClr val="475569"/>
                </a:solidFill>
                <a:latin typeface="Arial"/>
              </a:rPr>
              <a:t>cho</a:t>
            </a:r>
            <a:r>
              <a:rPr sz="1550" b="0" dirty="0">
                <a:solidFill>
                  <a:srgbClr val="475569"/>
                </a:solidFill>
                <a:latin typeface="Arial"/>
              </a:rPr>
              <a:t> visual encoder; CLIP-</a:t>
            </a:r>
            <a:r>
              <a:rPr sz="1550" b="0" dirty="0" err="1">
                <a:solidFill>
                  <a:srgbClr val="475569"/>
                </a:solidFill>
                <a:latin typeface="Arial"/>
              </a:rPr>
              <a:t>ReID</a:t>
            </a:r>
            <a:r>
              <a:rPr sz="15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475569"/>
                </a:solidFill>
                <a:latin typeface="Arial"/>
              </a:rPr>
              <a:t>vẫn</a:t>
            </a:r>
            <a:r>
              <a:rPr sz="15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475569"/>
                </a:solidFill>
                <a:latin typeface="Arial"/>
              </a:rPr>
              <a:t>là</a:t>
            </a:r>
            <a:r>
              <a:rPr sz="1550" b="0" dirty="0">
                <a:solidFill>
                  <a:srgbClr val="475569"/>
                </a:solidFill>
                <a:latin typeface="Arial"/>
              </a:rPr>
              <a:t> ID-token.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118104"/>
            <a:ext cx="384048" cy="274320"/>
          </a:xfrm>
          <a:prstGeom prst="roundRect">
            <a:avLst/>
          </a:prstGeom>
          <a:solidFill>
            <a:srgbClr val="00827C"/>
          </a:solidFill>
          <a:ln w="15240">
            <a:solidFill>
              <a:srgbClr val="008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81528"/>
            <a:ext cx="274320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Arial"/>
              </a:rPr>
              <a:t>CLIP-FER/DFER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081528"/>
            <a:ext cx="7132320" cy="3474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50" b="0" dirty="0">
                <a:solidFill>
                  <a:srgbClr val="475569"/>
                </a:solidFill>
                <a:latin typeface="Arial"/>
              </a:rPr>
              <a:t>Descriptor/adapters </a:t>
            </a:r>
            <a:r>
              <a:rPr sz="1550" b="0" dirty="0" err="1">
                <a:solidFill>
                  <a:srgbClr val="475569"/>
                </a:solidFill>
                <a:latin typeface="Arial"/>
              </a:rPr>
              <a:t>cải</a:t>
            </a:r>
            <a:r>
              <a:rPr sz="15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475569"/>
                </a:solidFill>
                <a:latin typeface="Arial"/>
              </a:rPr>
              <a:t>thiện</a:t>
            </a:r>
            <a:r>
              <a:rPr sz="1550" b="0" dirty="0">
                <a:solidFill>
                  <a:srgbClr val="475569"/>
                </a:solidFill>
                <a:latin typeface="Arial"/>
              </a:rPr>
              <a:t> FER, </a:t>
            </a:r>
            <a:r>
              <a:rPr sz="1550" b="0" dirty="0" err="1">
                <a:solidFill>
                  <a:srgbClr val="475569"/>
                </a:solidFill>
                <a:latin typeface="Arial"/>
              </a:rPr>
              <a:t>nhưng</a:t>
            </a:r>
            <a:r>
              <a:rPr sz="15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475569"/>
                </a:solidFill>
                <a:latin typeface="Arial"/>
              </a:rPr>
              <a:t>vai</a:t>
            </a:r>
            <a:r>
              <a:rPr sz="15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475569"/>
                </a:solidFill>
                <a:latin typeface="Arial"/>
              </a:rPr>
              <a:t>trò</a:t>
            </a:r>
            <a:r>
              <a:rPr sz="1550" b="0" dirty="0">
                <a:solidFill>
                  <a:srgbClr val="475569"/>
                </a:solidFill>
                <a:latin typeface="Arial"/>
              </a:rPr>
              <a:t> fixed anchor </a:t>
            </a:r>
            <a:r>
              <a:rPr sz="1550" b="0" dirty="0" err="1">
                <a:solidFill>
                  <a:srgbClr val="475569"/>
                </a:solidFill>
                <a:latin typeface="Arial"/>
              </a:rPr>
              <a:t>chưa</a:t>
            </a:r>
            <a:r>
              <a:rPr sz="15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475569"/>
                </a:solidFill>
                <a:latin typeface="Arial"/>
              </a:rPr>
              <a:t>rõ</a:t>
            </a:r>
            <a:r>
              <a:rPr sz="1550" b="0" dirty="0">
                <a:solidFill>
                  <a:srgbClr val="475569"/>
                </a:solidFill>
                <a:latin typeface="Arial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31336"/>
            <a:ext cx="384048" cy="274320"/>
          </a:xfrm>
          <a:prstGeom prst="roundRect">
            <a:avLst/>
          </a:prstGeom>
          <a:solidFill>
            <a:srgbClr val="D9770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794760"/>
            <a:ext cx="274320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Arial"/>
              </a:rPr>
              <a:t>AU/FACS semantics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794760"/>
            <a:ext cx="7132320" cy="3474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50" b="0">
                <a:solidFill>
                  <a:srgbClr val="475569"/>
                </a:solidFill>
                <a:latin typeface="Arial"/>
              </a:rPr>
              <a:t>Cầu nối giải phẫu - ngôn ngữ; label AU thiếu và noisy.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544568"/>
            <a:ext cx="384048" cy="274320"/>
          </a:xfrm>
          <a:prstGeom prst="roundRect">
            <a:avLst/>
          </a:prstGeom>
          <a:solidFill>
            <a:srgbClr val="DB2777"/>
          </a:solidFill>
          <a:ln w="1524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507992"/>
            <a:ext cx="274320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Arial"/>
              </a:rPr>
              <a:t>Uncertainty-aware 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507992"/>
            <a:ext cx="7132320" cy="3474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50" b="0">
                <a:solidFill>
                  <a:srgbClr val="475569"/>
                </a:solidFill>
                <a:latin typeface="Arial"/>
              </a:rPr>
              <a:t>Xử lý ambiguity/overconfidence; nên là calibration sau baseline.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5504688"/>
            <a:ext cx="10012680" cy="5486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07008" y="5559552"/>
            <a:ext cx="9354312" cy="51398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50" b="1">
                <a:solidFill>
                  <a:srgbClr val="10243E"/>
                </a:solidFill>
                <a:latin typeface="Arial"/>
              </a:rPr>
              <a:t>Luận điểm: giữ khung hai giai đoạn của CLIP-ReID, nhưng thay anchor định danh bằng descriptor cảm xúc/AU có thể kiểm chứng.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80" b="0">
                <a:solidFill>
                  <a:srgbClr val="64748B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601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75520" cy="53035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>
                <a:solidFill>
                  <a:srgbClr val="10243E"/>
                </a:solidFill>
                <a:latin typeface="Arial"/>
              </a:rPr>
              <a:t>Baseline: giá trị kế thừa và giới hạn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607040" cy="3474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rial"/>
              </a:rPr>
              <a:t>CLIP-ReID cho scaffold hai giai đoạn, nhưng anchor gốc phục vụ identity.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2014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60748"/>
            <a:ext cx="7315200" cy="38942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65008" y="1691640"/>
            <a:ext cx="3474720" cy="34290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lnSpc>
                <a:spcPct val="105000"/>
              </a:lnSpc>
            </a:pPr>
            <a:r>
              <a:rPr sz="1550" b="1">
                <a:solidFill>
                  <a:srgbClr val="2563EB"/>
                </a:solidFill>
                <a:latin typeface="Arial"/>
              </a:rPr>
              <a:t>CLIP: </a:t>
            </a:r>
            <a:r>
              <a:rPr sz="1550">
                <a:solidFill>
                  <a:srgbClr val="475569"/>
                </a:solidFill>
                <a:latin typeface="Arial"/>
              </a:rPr>
              <a:t>prompt thủ công và contrastive image-text.</a:t>
            </a:r>
          </a:p>
          <a:p>
            <a:pPr>
              <a:lnSpc>
                <a:spcPct val="105000"/>
              </a:lnSpc>
            </a:pPr>
            <a:r>
              <a:rPr sz="1550" b="1">
                <a:solidFill>
                  <a:srgbClr val="D97706"/>
                </a:solidFill>
                <a:latin typeface="Arial"/>
              </a:rPr>
              <a:t>CoOp: </a:t>
            </a:r>
            <a:r>
              <a:rPr sz="1550">
                <a:solidFill>
                  <a:srgbClr val="475569"/>
                </a:solidFill>
                <a:latin typeface="Arial"/>
              </a:rPr>
              <a:t>learnable context token giúp thích nghi downstream task.</a:t>
            </a:r>
          </a:p>
          <a:p>
            <a:pPr>
              <a:lnSpc>
                <a:spcPct val="105000"/>
              </a:lnSpc>
            </a:pPr>
            <a:r>
              <a:rPr sz="1550" b="1">
                <a:solidFill>
                  <a:srgbClr val="16A34A"/>
                </a:solidFill>
                <a:latin typeface="Arial"/>
              </a:rPr>
              <a:t>CLIP-ReID: </a:t>
            </a:r>
            <a:r>
              <a:rPr sz="1550">
                <a:solidFill>
                  <a:srgbClr val="475569"/>
                </a:solidFill>
                <a:latin typeface="Arial"/>
              </a:rPr>
              <a:t>hai giai đoạn: học token theo ID, rồi cố định text anchor.</a:t>
            </a:r>
          </a:p>
          <a:p>
            <a:pPr>
              <a:lnSpc>
                <a:spcPct val="105000"/>
              </a:lnSpc>
            </a:pPr>
            <a:r>
              <a:rPr sz="1550" b="1">
                <a:solidFill>
                  <a:srgbClr val="DB2777"/>
                </a:solidFill>
                <a:latin typeface="Arial"/>
              </a:rPr>
              <a:t>Giới hạn khi sang FER: </a:t>
            </a:r>
            <a:r>
              <a:rPr sz="1550">
                <a:solidFill>
                  <a:srgbClr val="475569"/>
                </a:solidFill>
                <a:latin typeface="Arial"/>
              </a:rPr>
              <a:t>ID token chưa mô tả dấu hiệu cơ mặt tạo ra cảm xúc.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80" b="0">
                <a:solidFill>
                  <a:srgbClr val="64748B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601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75520" cy="53035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>
                <a:solidFill>
                  <a:srgbClr val="10243E"/>
                </a:solidFill>
                <a:latin typeface="Arial"/>
              </a:rPr>
              <a:t>Khoảng trống khi chuyển baseline sang 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607040" cy="3474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50" b="0" dirty="0" err="1">
                <a:solidFill>
                  <a:srgbClr val="64748B"/>
                </a:solidFill>
                <a:latin typeface="Arial"/>
              </a:rPr>
              <a:t>Đây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là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thay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đổi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mục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tiêu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học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biểu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diễn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,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không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chỉ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đổi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label ID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thành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emotion label.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2014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91640"/>
            <a:ext cx="224028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100" b="1">
                <a:solidFill>
                  <a:srgbClr val="16A34A"/>
                </a:solidFill>
                <a:latin typeface="Arial"/>
              </a:rPr>
              <a:t>ID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719072"/>
            <a:ext cx="7726679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900" b="0">
                <a:solidFill>
                  <a:srgbClr val="475569"/>
                </a:solidFill>
                <a:latin typeface="Arial"/>
              </a:rPr>
              <a:t>phân biệt identity nhưng thiếu nghĩa biểu cảm.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313432"/>
            <a:ext cx="996696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651760"/>
            <a:ext cx="224028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100" b="1" dirty="0">
                <a:solidFill>
                  <a:srgbClr val="2563EB"/>
                </a:solidFill>
                <a:latin typeface="Arial"/>
              </a:rPr>
              <a:t>Class-name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1" y="2670048"/>
            <a:ext cx="7726679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900" b="0" dirty="0">
                <a:solidFill>
                  <a:srgbClr val="475569"/>
                </a:solidFill>
                <a:latin typeface="Arial"/>
              </a:rPr>
              <a:t>happy/sad/neutral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quá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thô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,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ít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mô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tả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vùng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cơ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mặt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3273552"/>
            <a:ext cx="996696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3611880"/>
            <a:ext cx="224028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AU/FACS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639312"/>
            <a:ext cx="7726679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900" b="0" dirty="0" err="1">
                <a:solidFill>
                  <a:srgbClr val="475569"/>
                </a:solidFill>
                <a:latin typeface="Arial"/>
              </a:rPr>
              <a:t>có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nghĩa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giải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phẫu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nhưng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label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thiếu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, noisy,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phụ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thuộc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domain.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4233672"/>
            <a:ext cx="996696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572000"/>
            <a:ext cx="224028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100" b="1">
                <a:solidFill>
                  <a:srgbClr val="DB2777"/>
                </a:solidFill>
                <a:latin typeface="Arial"/>
              </a:rPr>
              <a:t>Uncertainty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599432"/>
            <a:ext cx="7882128" cy="62170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0" dirty="0" err="1">
                <a:solidFill>
                  <a:srgbClr val="475569"/>
                </a:solidFill>
                <a:latin typeface="Arial"/>
              </a:rPr>
              <a:t>hữu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ích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cho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mẫu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mơ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hồ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nhưng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chỉ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nên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là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nhánh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hiệu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chỉnh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sau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khi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 descriptor baseline </a:t>
            </a:r>
            <a:r>
              <a:rPr sz="1900" b="0" dirty="0" err="1">
                <a:solidFill>
                  <a:srgbClr val="475569"/>
                </a:solidFill>
                <a:latin typeface="Arial"/>
              </a:rPr>
              <a:t>ổn</a:t>
            </a:r>
            <a:r>
              <a:rPr sz="1900" b="0" dirty="0">
                <a:solidFill>
                  <a:srgbClr val="475569"/>
                </a:solidFill>
                <a:latin typeface="Arial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5193792"/>
            <a:ext cx="996696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5623560"/>
            <a:ext cx="10332720" cy="502920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5760720"/>
            <a:ext cx="982980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50" b="1" dirty="0">
                <a:solidFill>
                  <a:srgbClr val="10243E"/>
                </a:solidFill>
                <a:latin typeface="Arial"/>
              </a:rPr>
              <a:t>Research gap: </a:t>
            </a:r>
            <a:r>
              <a:rPr sz="1550" b="1" dirty="0" err="1">
                <a:solidFill>
                  <a:srgbClr val="10243E"/>
                </a:solidFill>
                <a:latin typeface="Arial"/>
              </a:rPr>
              <a:t>cần</a:t>
            </a:r>
            <a:r>
              <a:rPr sz="1550" b="1" dirty="0">
                <a:solidFill>
                  <a:srgbClr val="10243E"/>
                </a:solidFill>
                <a:latin typeface="Arial"/>
              </a:rPr>
              <a:t> descriptor emotion/AU </a:t>
            </a:r>
            <a:r>
              <a:rPr sz="1550" b="1" dirty="0" err="1">
                <a:solidFill>
                  <a:srgbClr val="10243E"/>
                </a:solidFill>
                <a:latin typeface="Arial"/>
              </a:rPr>
              <a:t>làm</a:t>
            </a:r>
            <a:r>
              <a:rPr sz="1550" b="1" dirty="0">
                <a:solidFill>
                  <a:srgbClr val="10243E"/>
                </a:solidFill>
                <a:latin typeface="Arial"/>
              </a:rPr>
              <a:t> fixed semantic anchor, </a:t>
            </a:r>
            <a:r>
              <a:rPr sz="1550" b="1" dirty="0" err="1">
                <a:solidFill>
                  <a:srgbClr val="10243E"/>
                </a:solidFill>
                <a:latin typeface="Arial"/>
              </a:rPr>
              <a:t>đồng</a:t>
            </a:r>
            <a:r>
              <a:rPr sz="155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1550" b="1" dirty="0" err="1">
                <a:solidFill>
                  <a:srgbClr val="10243E"/>
                </a:solidFill>
                <a:latin typeface="Arial"/>
              </a:rPr>
              <a:t>thời</a:t>
            </a:r>
            <a:r>
              <a:rPr sz="155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1550" b="1" dirty="0" err="1">
                <a:solidFill>
                  <a:srgbClr val="10243E"/>
                </a:solidFill>
                <a:latin typeface="Arial"/>
              </a:rPr>
              <a:t>chứng</a:t>
            </a:r>
            <a:r>
              <a:rPr sz="155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1550" b="1" dirty="0" err="1">
                <a:solidFill>
                  <a:srgbClr val="10243E"/>
                </a:solidFill>
                <a:latin typeface="Arial"/>
              </a:rPr>
              <a:t>minh</a:t>
            </a:r>
            <a:r>
              <a:rPr sz="155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1550" b="1" dirty="0" err="1">
                <a:solidFill>
                  <a:srgbClr val="10243E"/>
                </a:solidFill>
                <a:latin typeface="Arial"/>
              </a:rPr>
              <a:t>bằng</a:t>
            </a:r>
            <a:r>
              <a:rPr sz="1550" b="1" dirty="0">
                <a:solidFill>
                  <a:srgbClr val="10243E"/>
                </a:solidFill>
                <a:latin typeface="Arial"/>
              </a:rPr>
              <a:t> ablation.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80" b="0">
                <a:solidFill>
                  <a:srgbClr val="64748B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601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75520" cy="53035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>
                <a:solidFill>
                  <a:srgbClr val="10243E"/>
                </a:solidFill>
                <a:latin typeface="Arial"/>
              </a:rPr>
              <a:t>Đề xuất hiện tại: two-stage semantic anchoring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607040" cy="3474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50" b="0" dirty="0">
                <a:solidFill>
                  <a:srgbClr val="64748B"/>
                </a:solidFill>
                <a:latin typeface="Arial"/>
              </a:rPr>
              <a:t>Stage 1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học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descriptor; Stage 2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cố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định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anchors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để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dẫn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64748B"/>
                </a:solidFill>
                <a:latin typeface="Arial"/>
              </a:rPr>
              <a:t>hướng</a:t>
            </a:r>
            <a:r>
              <a:rPr sz="1550" b="0" dirty="0">
                <a:solidFill>
                  <a:srgbClr val="64748B"/>
                </a:solidFill>
                <a:latin typeface="Arial"/>
              </a:rPr>
              <a:t> visual branch.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2014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80" b="0">
                <a:solidFill>
                  <a:srgbClr val="64748B"/>
                </a:solidFill>
                <a:latin typeface="Arial"/>
              </a:rPr>
              <a:t>06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291958-8011-3FDB-027F-BA2660CD7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441" y="1380744"/>
            <a:ext cx="7761997" cy="51018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601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75520" cy="53035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>
                <a:solidFill>
                  <a:srgbClr val="10243E"/>
                </a:solidFill>
                <a:latin typeface="Arial"/>
              </a:rPr>
              <a:t>Phần đã triển khai so với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607040" cy="3474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rial"/>
              </a:rPr>
              <a:t>Trình bày theo thay đổi chức năng: dữ liệu, descriptor, adapter, alignment và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2014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motionclip_reid_w4_functional_change_map.png"/>
          <p:cNvPicPr>
            <a:picLocks noChangeAspect="1"/>
          </p:cNvPicPr>
          <p:nvPr/>
        </p:nvPicPr>
        <p:blipFill>
          <a:blip r:embed="rId2"/>
          <a:srcRect t="10909" b="6667"/>
          <a:stretch>
            <a:fillRect/>
          </a:stretch>
        </p:blipFill>
        <p:spPr>
          <a:xfrm>
            <a:off x="1764321" y="1591056"/>
            <a:ext cx="8886153" cy="4882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80" b="0">
                <a:solidFill>
                  <a:srgbClr val="64748B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601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196516" cy="49859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 dirty="0" err="1">
                <a:solidFill>
                  <a:srgbClr val="10243E"/>
                </a:solidFill>
                <a:latin typeface="Arial"/>
              </a:rPr>
              <a:t>Kiến</a:t>
            </a:r>
            <a:r>
              <a:rPr sz="3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0243E"/>
                </a:solidFill>
                <a:latin typeface="Arial"/>
              </a:rPr>
              <a:t>trúc</a:t>
            </a:r>
            <a:r>
              <a:rPr sz="3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0243E"/>
                </a:solidFill>
                <a:latin typeface="Arial"/>
              </a:rPr>
              <a:t>hiện</a:t>
            </a:r>
            <a:r>
              <a:rPr sz="3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0243E"/>
                </a:solidFill>
                <a:latin typeface="Arial"/>
              </a:rPr>
              <a:t>tại</a:t>
            </a:r>
            <a:endParaRPr sz="3000" b="1" dirty="0">
              <a:solidFill>
                <a:srgbClr val="10243E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2014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motionclip_reid_w4_model_architecture.png"/>
          <p:cNvPicPr>
            <a:picLocks noChangeAspect="1"/>
          </p:cNvPicPr>
          <p:nvPr/>
        </p:nvPicPr>
        <p:blipFill>
          <a:blip r:embed="rId2"/>
          <a:srcRect t="9091"/>
          <a:stretch>
            <a:fillRect/>
          </a:stretch>
        </p:blipFill>
        <p:spPr>
          <a:xfrm>
            <a:off x="1587676" y="1417320"/>
            <a:ext cx="9457082" cy="47457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80" b="0">
                <a:solidFill>
                  <a:srgbClr val="64748B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601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2940036" cy="49859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 dirty="0" err="1">
                <a:solidFill>
                  <a:srgbClr val="10243E"/>
                </a:solidFill>
                <a:latin typeface="Arial"/>
              </a:rPr>
              <a:t>Kết</a:t>
            </a:r>
            <a:r>
              <a:rPr sz="3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0243E"/>
                </a:solidFill>
                <a:latin typeface="Arial"/>
              </a:rPr>
              <a:t>quả</a:t>
            </a:r>
            <a:r>
              <a:rPr sz="3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0243E"/>
                </a:solidFill>
                <a:latin typeface="Arial"/>
              </a:rPr>
              <a:t>hiện</a:t>
            </a:r>
            <a:r>
              <a:rPr sz="3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0243E"/>
                </a:solidFill>
                <a:latin typeface="Arial"/>
              </a:rPr>
              <a:t>tại</a:t>
            </a:r>
            <a:endParaRPr sz="3000" b="1" dirty="0">
              <a:solidFill>
                <a:srgbClr val="10243E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2014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0784"/>
            <a:ext cx="1554480" cy="31089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Arial"/>
              </a:rPr>
              <a:t>RAF-DB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27632"/>
            <a:ext cx="1325880" cy="31089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87.8%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93392"/>
            <a:ext cx="13258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rial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627632"/>
            <a:ext cx="1325880" cy="31089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80.5%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993392"/>
            <a:ext cx="13258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rial"/>
              </a:rPr>
              <a:t>Balanced acc.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627632"/>
            <a:ext cx="1325880" cy="31089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81.2%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993392"/>
            <a:ext cx="13258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rial"/>
              </a:rPr>
              <a:t>Macro-F1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627632"/>
            <a:ext cx="1325880" cy="31089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0.39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993392"/>
            <a:ext cx="13258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rial"/>
              </a:rPr>
              <a:t>ECE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542032"/>
            <a:ext cx="1554480" cy="31089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Arial"/>
              </a:rPr>
              <a:t>FER2013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468880"/>
            <a:ext cx="1325880" cy="31089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rial"/>
              </a:rPr>
              <a:t>70.6%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834640"/>
            <a:ext cx="13258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rial"/>
              </a:rP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468880"/>
            <a:ext cx="1325880" cy="31089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rial"/>
              </a:rPr>
              <a:t>68.3%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834640"/>
            <a:ext cx="13258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rial"/>
              </a:rPr>
              <a:t>Balanced acc.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468880"/>
            <a:ext cx="1325880" cy="31089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rial"/>
              </a:rPr>
              <a:t>68.6%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834640"/>
            <a:ext cx="13258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rial"/>
              </a:rPr>
              <a:t>Macro-F1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468880"/>
            <a:ext cx="1325880" cy="31089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rial"/>
              </a:rPr>
              <a:t>0.37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834640"/>
            <a:ext cx="13258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rial"/>
              </a:rPr>
              <a:t>ECE</a:t>
            </a:r>
          </a:p>
        </p:txBody>
      </p:sp>
      <p:pic>
        <p:nvPicPr>
          <p:cNvPr id="24" name="Picture 23" descr="emotionclip_outputs_validation_curves.png"/>
          <p:cNvPicPr>
            <a:picLocks noChangeAspect="1"/>
          </p:cNvPicPr>
          <p:nvPr/>
        </p:nvPicPr>
        <p:blipFill>
          <a:blip r:embed="rId2"/>
          <a:srcRect t="17522"/>
          <a:stretch>
            <a:fillRect/>
          </a:stretch>
        </p:blipFill>
        <p:spPr>
          <a:xfrm>
            <a:off x="822960" y="3026664"/>
            <a:ext cx="9637776" cy="379387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80" b="0">
                <a:solidFill>
                  <a:srgbClr val="64748B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601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2168992" cy="49859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 dirty="0" err="1">
                <a:solidFill>
                  <a:srgbClr val="10243E"/>
                </a:solidFill>
                <a:latin typeface="Arial"/>
              </a:rPr>
              <a:t>lỗi</a:t>
            </a:r>
            <a:r>
              <a:rPr sz="3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0243E"/>
                </a:solidFill>
                <a:latin typeface="Arial"/>
              </a:rPr>
              <a:t>theo</a:t>
            </a:r>
            <a:r>
              <a:rPr sz="3000" b="1" dirty="0">
                <a:solidFill>
                  <a:srgbClr val="10243E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0243E"/>
                </a:solidFill>
                <a:latin typeface="Arial"/>
              </a:rPr>
              <a:t>lớp</a:t>
            </a:r>
            <a:endParaRPr sz="3000" b="1" dirty="0">
              <a:solidFill>
                <a:srgbClr val="10243E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2014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motionclip_outputs_per_class_f1.png"/>
          <p:cNvPicPr>
            <a:picLocks noChangeAspect="1"/>
          </p:cNvPicPr>
          <p:nvPr/>
        </p:nvPicPr>
        <p:blipFill>
          <a:blip r:embed="rId2"/>
          <a:srcRect t="12795"/>
          <a:stretch>
            <a:fillRect/>
          </a:stretch>
        </p:blipFill>
        <p:spPr>
          <a:xfrm>
            <a:off x="43992" y="2195032"/>
            <a:ext cx="8286168" cy="31202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737360"/>
            <a:ext cx="3291840" cy="34290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DB2777"/>
                </a:solidFill>
                <a:latin typeface="Arial"/>
              </a:rPr>
              <a:t>FER2013 fear: </a:t>
            </a:r>
            <a:r>
              <a:rPr sz="1520">
                <a:solidFill>
                  <a:srgbClr val="475569"/>
                </a:solidFill>
                <a:latin typeface="Arial"/>
              </a:rPr>
              <a:t>F1 0.53 - tín hiệu yếu, dễ lẫn với sadness/surprise.</a:t>
            </a:r>
          </a:p>
          <a:p>
            <a:pPr>
              <a:lnSpc>
                <a:spcPct val="105000"/>
              </a:lnSpc>
            </a:pPr>
            <a:r>
              <a:rPr sz="1520" b="1">
                <a:solidFill>
                  <a:srgbClr val="D97706"/>
                </a:solidFill>
                <a:latin typeface="Arial"/>
              </a:rPr>
              <a:t>FER2013 sadness: </a:t>
            </a:r>
            <a:r>
              <a:rPr sz="1520">
                <a:solidFill>
                  <a:srgbClr val="475569"/>
                </a:solidFill>
                <a:latin typeface="Arial"/>
              </a:rPr>
              <a:t>F1 0.60 - chịu ảnh hưởng label ambiguity.</a:t>
            </a:r>
          </a:p>
          <a:p>
            <a:pPr>
              <a:lnSpc>
                <a:spcPct val="105000"/>
              </a:lnSpc>
            </a:pPr>
            <a:r>
              <a:rPr sz="1520" b="1">
                <a:solidFill>
                  <a:srgbClr val="DB2777"/>
                </a:solidFill>
                <a:latin typeface="Arial"/>
              </a:rPr>
              <a:t>RAF-DB disgust: </a:t>
            </a:r>
            <a:r>
              <a:rPr sz="1520">
                <a:solidFill>
                  <a:srgbClr val="475569"/>
                </a:solidFill>
                <a:latin typeface="Arial"/>
              </a:rPr>
              <a:t>F1 0.62 - lớp ít mẫu và biểu hiện tinh vi.</a:t>
            </a:r>
          </a:p>
          <a:p>
            <a:pPr>
              <a:lnSpc>
                <a:spcPct val="105000"/>
              </a:lnSpc>
            </a:pPr>
            <a:r>
              <a:rPr sz="1520" b="1">
                <a:solidFill>
                  <a:srgbClr val="D97706"/>
                </a:solidFill>
                <a:latin typeface="Arial"/>
              </a:rPr>
              <a:t>RAF-DB fear: </a:t>
            </a:r>
            <a:r>
              <a:rPr sz="1520">
                <a:solidFill>
                  <a:srgbClr val="475569"/>
                </a:solidFill>
                <a:latin typeface="Arial"/>
              </a:rPr>
              <a:t>F1 0.71 - vẫn cần phân tích subset khó.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193792"/>
            <a:ext cx="3268980" cy="6924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20" b="0" dirty="0" err="1">
                <a:solidFill>
                  <a:srgbClr val="475569"/>
                </a:solidFill>
                <a:latin typeface="Arial"/>
              </a:rPr>
              <a:t>Cần</a:t>
            </a:r>
            <a:r>
              <a:rPr sz="142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420" b="0" dirty="0" err="1">
                <a:solidFill>
                  <a:srgbClr val="475569"/>
                </a:solidFill>
                <a:latin typeface="Arial"/>
              </a:rPr>
              <a:t>bổ</a:t>
            </a:r>
            <a:r>
              <a:rPr sz="1420" b="0" dirty="0">
                <a:solidFill>
                  <a:srgbClr val="475569"/>
                </a:solidFill>
                <a:latin typeface="Arial"/>
              </a:rPr>
              <a:t> sung: confusion matrix, occlusion/pose subset, retrieval </a:t>
            </a:r>
            <a:r>
              <a:rPr sz="1420" b="0" dirty="0" err="1">
                <a:solidFill>
                  <a:srgbClr val="475569"/>
                </a:solidFill>
                <a:latin typeface="Arial"/>
              </a:rPr>
              <a:t>ảnh</a:t>
            </a:r>
            <a:r>
              <a:rPr sz="1420" b="0" dirty="0">
                <a:solidFill>
                  <a:srgbClr val="475569"/>
                </a:solidFill>
                <a:latin typeface="Arial"/>
              </a:rPr>
              <a:t>-descriptor.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80" b="0">
                <a:solidFill>
                  <a:srgbClr val="64748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6012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75520" cy="53035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000" b="1">
                <a:solidFill>
                  <a:srgbClr val="10243E"/>
                </a:solidFill>
                <a:latin typeface="Arial"/>
              </a:rPr>
              <a:t>Tự phản biện học thuật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607040" cy="3474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rial"/>
              </a:rPr>
              <a:t>Mỗi claim chính cần đi kèm một phép kiểm chứng cụ thể.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2014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292608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64748B"/>
                </a:solidFill>
                <a:latin typeface="Arial"/>
              </a:rPr>
              <a:t>Điểm có thể bị hỏi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554480"/>
            <a:ext cx="292608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64748B"/>
                </a:solidFill>
                <a:latin typeface="Arial"/>
              </a:rPr>
              <a:t>Rủi ro nếu chưa kiểm chứng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554480"/>
            <a:ext cx="320040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50" b="1">
                <a:solidFill>
                  <a:srgbClr val="64748B"/>
                </a:solidFill>
                <a:latin typeface="Arial"/>
              </a:rPr>
              <a:t>Cách xử lý trong thí nghiệm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38528"/>
            <a:ext cx="306324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048256"/>
            <a:ext cx="2843784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70" b="1">
                <a:solidFill>
                  <a:srgbClr val="10243E"/>
                </a:solidFill>
                <a:latin typeface="Arial"/>
              </a:rPr>
              <a:t>Descriptor có thật sự mang nghĩa?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938528"/>
            <a:ext cx="324612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87952" y="2048256"/>
            <a:ext cx="3026664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70" b="0" dirty="0" err="1">
                <a:solidFill>
                  <a:srgbClr val="475569"/>
                </a:solidFill>
                <a:latin typeface="Arial"/>
              </a:rPr>
              <a:t>Có</a:t>
            </a:r>
            <a:r>
              <a:rPr sz="117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170" b="0" dirty="0" err="1">
                <a:solidFill>
                  <a:srgbClr val="475569"/>
                </a:solidFill>
                <a:latin typeface="Arial"/>
              </a:rPr>
              <a:t>thể</a:t>
            </a:r>
            <a:r>
              <a:rPr sz="117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170" b="0" dirty="0" err="1">
                <a:solidFill>
                  <a:srgbClr val="475569"/>
                </a:solidFill>
                <a:latin typeface="Arial"/>
              </a:rPr>
              <a:t>chỉ</a:t>
            </a:r>
            <a:r>
              <a:rPr sz="117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170" b="0" dirty="0" err="1">
                <a:solidFill>
                  <a:srgbClr val="475569"/>
                </a:solidFill>
                <a:latin typeface="Arial"/>
              </a:rPr>
              <a:t>là</a:t>
            </a:r>
            <a:r>
              <a:rPr sz="1170" b="0" dirty="0">
                <a:solidFill>
                  <a:srgbClr val="475569"/>
                </a:solidFill>
                <a:latin typeface="Arial"/>
              </a:rPr>
              <a:t> embedding </a:t>
            </a:r>
            <a:r>
              <a:rPr sz="1170" b="0" dirty="0" err="1">
                <a:solidFill>
                  <a:srgbClr val="475569"/>
                </a:solidFill>
                <a:latin typeface="Arial"/>
              </a:rPr>
              <a:t>phân</a:t>
            </a:r>
            <a:r>
              <a:rPr sz="117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170" b="0" dirty="0" err="1">
                <a:solidFill>
                  <a:srgbClr val="475569"/>
                </a:solidFill>
                <a:latin typeface="Arial"/>
              </a:rPr>
              <a:t>loại</a:t>
            </a:r>
            <a:r>
              <a:rPr sz="1170" b="0" dirty="0">
                <a:solidFill>
                  <a:srgbClr val="475569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938528"/>
            <a:ext cx="361188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9832" y="2048256"/>
            <a:ext cx="3392424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70" b="0">
                <a:solidFill>
                  <a:srgbClr val="475569"/>
                </a:solidFill>
                <a:latin typeface="Arial"/>
              </a:rPr>
              <a:t>So sánh class prompt / learned descriptor / AU descriptor.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03120"/>
            <a:ext cx="73152" cy="329184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5800" y="2697480"/>
            <a:ext cx="306324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2807208"/>
            <a:ext cx="2843784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70" b="1">
                <a:solidFill>
                  <a:srgbClr val="10243E"/>
                </a:solidFill>
                <a:latin typeface="Arial"/>
              </a:rPr>
              <a:t>Text anchor có kéo visual feature?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2697480"/>
            <a:ext cx="324612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87952" y="2807208"/>
            <a:ext cx="3026664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70" b="0">
                <a:solidFill>
                  <a:srgbClr val="475569"/>
                </a:solidFill>
                <a:latin typeface="Arial"/>
              </a:rPr>
              <a:t>Tăng accuracy nhưng chưa chứng minh alignment.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2697480"/>
            <a:ext cx="361188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99832" y="2807208"/>
            <a:ext cx="3392424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70" b="0">
                <a:solidFill>
                  <a:srgbClr val="475569"/>
                </a:solidFill>
                <a:latin typeface="Arial"/>
              </a:rPr>
              <a:t>Ablation no-I2T, no-fixed descriptor; retrieval ảnh-descriptor.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862072"/>
            <a:ext cx="73152" cy="329184"/>
          </a:xfrm>
          <a:prstGeom prst="rect">
            <a:avLst/>
          </a:prstGeom>
          <a:solidFill>
            <a:srgbClr val="16A34A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85800" y="3456432"/>
            <a:ext cx="306324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3566160"/>
            <a:ext cx="2843784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70" b="1">
                <a:solidFill>
                  <a:srgbClr val="10243E"/>
                </a:solidFill>
                <a:latin typeface="Arial"/>
              </a:rPr>
              <a:t>AU/pseudo-AU có đáng tin?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3456432"/>
            <a:ext cx="324612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87952" y="3566160"/>
            <a:ext cx="3026664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70" b="0">
                <a:solidFill>
                  <a:srgbClr val="475569"/>
                </a:solidFill>
                <a:latin typeface="Arial"/>
              </a:rPr>
              <a:t>Nhiễu khi pose, che khuất hoặc ảnh mờ.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3456432"/>
            <a:ext cx="361188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99832" y="3566160"/>
            <a:ext cx="3392424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70" b="0">
                <a:solidFill>
                  <a:srgbClr val="475569"/>
                </a:solidFill>
                <a:latin typeface="Arial"/>
              </a:rPr>
              <a:t>With/without AU, confidence threshold, missing-AU mask.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21024"/>
            <a:ext cx="73152" cy="329184"/>
          </a:xfrm>
          <a:prstGeom prst="rect">
            <a:avLst/>
          </a:prstGeom>
          <a:solidFill>
            <a:srgbClr val="D9770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85800" y="4215384"/>
            <a:ext cx="306324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325112"/>
            <a:ext cx="2843784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70" b="1">
                <a:solidFill>
                  <a:srgbClr val="10243E"/>
                </a:solidFill>
                <a:latin typeface="Arial"/>
              </a:rPr>
              <a:t>Uncertainty có thật sự hữu ích?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69080" y="4215384"/>
            <a:ext cx="324612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87952" y="4325112"/>
            <a:ext cx="3026664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70" b="0">
                <a:solidFill>
                  <a:srgbClr val="475569"/>
                </a:solidFill>
                <a:latin typeface="Arial"/>
              </a:rPr>
              <a:t>Làm phức tạp training và che contribution chính.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4215384"/>
            <a:ext cx="361188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99832" y="4325112"/>
            <a:ext cx="3392424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70" b="0" dirty="0">
                <a:solidFill>
                  <a:srgbClr val="475569"/>
                </a:solidFill>
                <a:latin typeface="Arial"/>
              </a:rPr>
              <a:t>Báo </a:t>
            </a:r>
            <a:r>
              <a:rPr sz="1170" b="0" dirty="0" err="1">
                <a:solidFill>
                  <a:srgbClr val="475569"/>
                </a:solidFill>
                <a:latin typeface="Arial"/>
              </a:rPr>
              <a:t>cáo</a:t>
            </a:r>
            <a:r>
              <a:rPr sz="1170" b="0" dirty="0">
                <a:solidFill>
                  <a:srgbClr val="475569"/>
                </a:solidFill>
                <a:latin typeface="Arial"/>
              </a:rPr>
              <a:t> ECE/NLL, risk-coverage, uncertainty-quality curve.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379976"/>
            <a:ext cx="73152" cy="329184"/>
          </a:xfrm>
          <a:prstGeom prst="rect">
            <a:avLst/>
          </a:prstGeom>
          <a:solidFill>
            <a:srgbClr val="DB2777"/>
          </a:solidFill>
          <a:ln w="1524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80" b="0">
                <a:solidFill>
                  <a:srgbClr val="64748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778</Words>
  <Application>Microsoft Office PowerPoint</Application>
  <PresentationFormat>Widescreen</PresentationFormat>
  <Paragraphs>114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Lê Trung Hậu</cp:lastModifiedBy>
  <cp:revision>2</cp:revision>
  <dcterms:created xsi:type="dcterms:W3CDTF">2013-01-27T09:14:16Z</dcterms:created>
  <dcterms:modified xsi:type="dcterms:W3CDTF">2026-07-11T08:04:24Z</dcterms:modified>
  <cp:category/>
</cp:coreProperties>
</file>