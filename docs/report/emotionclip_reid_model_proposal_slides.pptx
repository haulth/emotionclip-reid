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4241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300" b="1">
                <a:solidFill>
                  <a:srgbClr val="10243E"/>
                </a:solidFill>
                <a:latin typeface="Arial"/>
              </a:rPr>
              <a:t>EmotionCLIP-ReID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72768"/>
            <a:ext cx="9875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Arial"/>
              </a:rPr>
              <a:t>Đề xuất mô hình FER kế thừa CLIP-ReID và chuyển từ ID token sang semantic emotion descriptors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80360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0827C"/>
                </a:solidFill>
                <a:latin typeface="Arial"/>
              </a:rPr>
              <a:t>Luận điểm bảo vệ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10128"/>
            <a:ext cx="8869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rial"/>
              </a:rPr>
              <a:t>Không ghép cơ học nhiều paper; đề xuất giữ khung hai giai đoạn của CLIP-ReID, rồi thay mục tiêu định danh bằng descriptor cảm xúc có khả năng diễn giải.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44768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Báo cáo đề xuất với GVHD | Khoa học máy tính | 2026-05-10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1. Vấn đề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FER ngoài môi trường sạch cần nhiều hơn một classifier thị giác.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8463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243E"/>
                </a:solidFill>
                <a:latin typeface="Arial"/>
              </a:rPr>
              <a:t>Biểu cảm là tín hiệu nhỏ, mơ hồ và dễ bị che mất.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481328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rial"/>
              </a:defRPr>
            </a:pPr>
            <a:r>
              <a:t>Che khuất: khẩu trang, tay, tóc, kính.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rial"/>
              </a:defRPr>
            </a:pPr>
            <a:r>
              <a:t>Pose shift: mặt không chính diện làm lệch vùng cơ quan trọng.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rial"/>
              </a:defRPr>
            </a:pPr>
            <a:r>
              <a:t>Label ambiguity: cùng một ảnh có thể nằm giữa neutral, sad, fear.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rial"/>
              </a:defRPr>
            </a:pPr>
            <a:r>
              <a:t>Overconfidence: softmax dễ tự tin sai trên mẫu khó.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4572000" cy="96012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53128"/>
            <a:ext cx="435254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Tiêu chí thành công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818888"/>
            <a:ext cx="4242816" cy="3749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Không chỉ tăng accuracy trên ảnh sạch; cần macro-F1, balanced accuracy và kiểm tra subset khó.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2. Vì sao bắt đầu từ CLIP-ReID?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CLIP-ReID đã có đúng cơ chế nền: học text token trước, dùng text feature làm neo sau.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743200" cy="123444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18488"/>
            <a:ext cx="252374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CLIP-ReID gốc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2414016" cy="6492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ID không có mô tả text cụ thể -&gt; học learnable text tokens theo từng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508760"/>
            <a:ext cx="2743200" cy="123444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1618488"/>
            <a:ext cx="252374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Chuyển đổi đề xuất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2" y="1984248"/>
            <a:ext cx="2414016" cy="6492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ID token -&gt; emotion/AU descriptor có ý nghĩa ngữ nghĩa.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508760"/>
            <a:ext cx="2743200" cy="1234440"/>
          </a:xfrm>
          <a:prstGeom prst="roundRect">
            <a:avLst/>
          </a:prstGeom>
          <a:solidFill>
            <a:srgbClr val="FFF7E6"/>
          </a:solidFill>
          <a:ln w="13970">
            <a:solidFill>
              <a:srgbClr val="C7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1618488"/>
            <a:ext cx="252374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Kết quả mong muốn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1984248"/>
            <a:ext cx="2414016" cy="6492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Ảnh mặt được kéo về đúng vùng descriptor cảm xúc.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0440" y="2121408"/>
            <a:ext cx="1124712" cy="0"/>
          </a:xfrm>
          <a:prstGeom prst="line">
            <a:avLst/>
          </a:prstGeom>
          <a:ln w="25400">
            <a:solidFill>
              <a:srgbClr val="0082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79" y="2121408"/>
            <a:ext cx="1124713" cy="0"/>
          </a:xfrm>
          <a:prstGeom prst="line">
            <a:avLst/>
          </a:prstGeom>
          <a:ln w="25400">
            <a:solidFill>
              <a:srgbClr val="0082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703320"/>
            <a:ext cx="98755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300" b="1">
                <a:solidFill>
                  <a:srgbClr val="10243E"/>
                </a:solidFill>
                <a:latin typeface="Arial"/>
              </a:rPr>
              <a:t>Câu hỏi nghiên cứu: có thể giữ khung huấn luyện hai giai đoạn, nhưng thay định danh ID bằng descriptor cảm xúc để làm FER bền vững hơn không?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3. Sơ đồ tổng thể mô hình đề xuất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Ba tầng: visual encoding, semantic descriptors, training &amp; inference.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motionclip_reid_proposed_emotionclip_reid_mode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261872"/>
            <a:ext cx="8324398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4. Cấu trúc hai giai đoạn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Điểm kế thừa cốt lõi: học descriptor trước, fine-tune visual branch sau.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motionclip_reid_two_stage_structur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325880"/>
            <a:ext cx="11612880" cy="48917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5. Stage 1: học descriptor cảm xúc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Mục tiêu là học prompt/token, không cập nhật backbone CLIP.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3891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300" b="1">
                <a:solidFill>
                  <a:srgbClr val="C77D00"/>
                </a:solidFill>
                <a:latin typeface="Arial"/>
              </a:rPr>
              <a:t>p_c = template(c, AU) + [X1]...[XM]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49240" y="1828800"/>
            <a:ext cx="1051560" cy="0"/>
          </a:xfrm>
          <a:prstGeom prst="line">
            <a:avLst/>
          </a:prstGeom>
          <a:ln w="25400">
            <a:solidFill>
              <a:srgbClr val="0082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37960" y="1508760"/>
            <a:ext cx="420624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300" b="1">
                <a:solidFill>
                  <a:srgbClr val="00827C"/>
                </a:solidFill>
                <a:latin typeface="Arial"/>
              </a:rPr>
              <a:t>z_t = TextEncoder(p_c)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rial"/>
              </a:defRPr>
            </a:pPr>
            <a:r>
              <a:t>Image/text encoder giữ cố định; chỉ structured prompt được học.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rial"/>
              </a:defRPr>
            </a:pPr>
            <a:r>
              <a:t>Nếu chưa có AU đáng tin: bắt đầu bằng emotion-class prompt.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rial"/>
              </a:defRPr>
            </a:pPr>
            <a:r>
              <a:t>Tiêu chí kiểm tra: descriptor phân tách được emotion và không mất ý nghĩa ngôn ngữ.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6. Stage 2: fine-tune visual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Descriptor cố định đóng vai trò semantic anchor cho visual embedding.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81328"/>
            <a:ext cx="2560320" cy="11430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91056"/>
            <a:ext cx="2340863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Ảnh mặt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56816"/>
            <a:ext cx="2231136" cy="5577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face-safe 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481328"/>
            <a:ext cx="2743200" cy="114300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1591056"/>
            <a:ext cx="252374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CLIP visual + 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1" y="1956816"/>
            <a:ext cx="2414016" cy="5577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backbone mostly frozen; train adapter/head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481328"/>
            <a:ext cx="2148840" cy="1143000"/>
          </a:xfrm>
          <a:prstGeom prst="roundRect">
            <a:avLst/>
          </a:prstGeom>
          <a:solidFill>
            <a:srgbClr val="FFF7E6"/>
          </a:solidFill>
          <a:ln w="13970">
            <a:solidFill>
              <a:srgbClr val="C7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591056"/>
            <a:ext cx="192938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Embedding z_v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1956816"/>
            <a:ext cx="1819656" cy="5577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biểu diễn ảnh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1481328"/>
            <a:ext cx="2057400" cy="114300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7" y="1591056"/>
            <a:ext cx="1837943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Descriptor z_t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8632" y="1956816"/>
            <a:ext cx="1728216" cy="5577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semantic anchor cố định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37560" y="2048256"/>
            <a:ext cx="320040" cy="0"/>
          </a:xfrm>
          <a:prstGeom prst="line">
            <a:avLst/>
          </a:prstGeom>
          <a:ln w="25400">
            <a:solidFill>
              <a:srgbClr val="0082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2048256"/>
            <a:ext cx="320040" cy="0"/>
          </a:xfrm>
          <a:prstGeom prst="line">
            <a:avLst/>
          </a:prstGeom>
          <a:ln w="25400">
            <a:solidFill>
              <a:srgbClr val="0082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3749039"/>
            <a:ext cx="9875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10243E"/>
                </a:solidFill>
                <a:latin typeface="Arial"/>
              </a:rPr>
              <a:t>L_total = L_cls + beta * L_i2t + lambda * L_unc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09160"/>
            <a:ext cx="8686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B42318"/>
                </a:solidFill>
                <a:latin typeface="Arial"/>
              </a:rPr>
              <a:t>Khuyến nghị triển khai: bật L_cls + L_i2t trước; chỉ thêm L_unc khi đã có baseline ổn định.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7. Vai trò của các prior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MER-CLIP, EA-CLIP và UA-FER là nguồn thiết kế, không phải phần phải tái hiện đầy đủ.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46120" cy="182880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27048"/>
            <a:ext cx="3026663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MER-CLIP prior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892808"/>
            <a:ext cx="2916936" cy="12435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AU -&gt; mô tả chuyển động cơ mặt. Dùng khi có AU/pseudo-AU đủ tin cậy.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182880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8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527048"/>
            <a:ext cx="3026663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EA-CLIP prior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892808"/>
            <a:ext cx="2916936" cy="12435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Adapter biểu cảm giúp fine-tune ít tham số và giảm overfit.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246120" cy="1828800"/>
          </a:xfrm>
          <a:prstGeom prst="roundRect">
            <a:avLst/>
          </a:prstGeom>
          <a:solidFill>
            <a:srgbClr val="FFF1F2"/>
          </a:solidFill>
          <a:ln w="1397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527048"/>
            <a:ext cx="3026663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UA-FER prior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92808"/>
            <a:ext cx="2916936" cy="12435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EDL/uncertainty xử lý dự đoán quá tự tin trên mẫu mơ hồ.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60520"/>
            <a:ext cx="102412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300" b="1">
                <a:solidFill>
                  <a:srgbClr val="10243E"/>
                </a:solidFill>
                <a:latin typeface="Arial"/>
              </a:rPr>
              <a:t>Điểm phản biện: prior chỉ có giá trị khi được kiểm chứng bằng ablation. Không nên biến đề xuất thành bản sao của ba paper.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8. Hàm mất mát và đầu 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Mỗi thành phần loss phải trả lời một vai trò khoa học cụ thể.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17320"/>
          <a:ext cx="10332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Thành phần</a:t>
                      </a:r>
                    </a:p>
                  </a:txBody>
                  <a:tcPr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Vai trò</a:t>
                      </a:r>
                    </a:p>
                  </a:txBody>
                  <a:tcPr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Mức ưu tiên</a:t>
                      </a:r>
                    </a:p>
                  </a:txBody>
                  <a:tcPr>
                    <a:solidFill>
                      <a:srgbClr val="1024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L_cls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phân loại cảm xúc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bắt buộc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L_i2t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kéo z_v về descriptor z_t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nên có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L_unc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hiệu chỉnh bất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mở rộng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Metric 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tách cụm embedding nếu cần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tùy chọn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" y="4892040"/>
            <a:ext cx="969264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B42318"/>
                </a:solidFill>
                <a:latin typeface="Arial"/>
              </a:rPr>
              <a:t>Đầu ra nên gồm p(y|x) và u(x): xác suất cảm xúc + tín hiệu bất định/abstention.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9. Cái nào triển khai được, cái nào chưa?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Cần trình bày thành ma trận khả thi để GVHD thấy lộ trình kiểm chứng.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743200" cy="1874519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35607"/>
            <a:ext cx="252374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Khả dụng 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01368"/>
            <a:ext cx="2414016" cy="12893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CLIP backbone
PromptLearner/TextEncoder
Two-stage flow
Contrastive/I2T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25880"/>
            <a:ext cx="2743200" cy="1874519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435607"/>
            <a:ext cx="252374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Sửa vừa phải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1801368"/>
            <a:ext cx="2414016" cy="12893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FER dataloader
Face-safe aug
Emotion head
FER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25880"/>
            <a:ext cx="2743200" cy="1874519"/>
          </a:xfrm>
          <a:prstGeom prst="roundRect">
            <a:avLst/>
          </a:prstGeom>
          <a:solidFill>
            <a:srgbClr val="FFF7E6"/>
          </a:solidFill>
          <a:ln w="13970">
            <a:solidFill>
              <a:srgbClr val="C7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435607"/>
            <a:ext cx="252374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Rủi ro cao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1801368"/>
            <a:ext cx="2414016" cy="12893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Adapter placement
EDL uncertainty
AU pseudo-label
Grad-CAM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325880"/>
            <a:ext cx="2240280" cy="1874519"/>
          </a:xfrm>
          <a:prstGeom prst="roundRect">
            <a:avLst/>
          </a:prstGeom>
          <a:solidFill>
            <a:srgbClr val="FFF1F2"/>
          </a:solidFill>
          <a:ln w="1397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1435607"/>
            <a:ext cx="202082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0243E"/>
                </a:solidFill>
                <a:latin typeface="Arial"/>
              </a:rPr>
              <a:t>Chưa tuyên bố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1801368"/>
            <a:ext cx="1911096" cy="12893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Full MER/EA/UA reproduction
SOTA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1042416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500" b="1">
                <a:solidFill>
                  <a:srgbClr val="10243E"/>
                </a:solidFill>
                <a:latin typeface="Arial"/>
              </a:rPr>
              <a:t>Chiến lược bảo vệ: làm phiên bản v1 nhỏ nhưng đúng protocol; sau đó thêm module nâng cao bằng ablation.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10. Kế hoạch thí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Thiết kế thí nghiệm theo nấc để chứng minh từng đóng góp.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6070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Mốc</a:t>
                      </a:r>
                    </a:p>
                  </a:txBody>
                  <a:tcPr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Cấu hình</a:t>
                      </a:r>
                    </a:p>
                  </a:txBody>
                  <a:tcPr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Câu hỏi kiểm chứng</a:t>
                      </a:r>
                    </a:p>
                  </a:txBody>
                  <a:tcPr>
                    <a:solidFill>
                      <a:srgbClr val="10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E0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CLIP + linear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baseline 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emotion prompt 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descriptor có ích không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fixed descriptor + I2T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semantic anchor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E3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adapter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giảm overfit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E4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uncertainty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calibration mẫu khó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E5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AU ablation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11827"/>
                          </a:solidFill>
                        </a:defRPr>
                      </a:pPr>
                      <a:r>
                        <a:t>AU thêm tín hiệu không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0120" y="562356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rial"/>
              </a:rPr>
              <a:t>Metric chính: macro-F1, balanced accuracy; metric phụ: ECE, confusion matrix, subset occlusion/pose.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0243E"/>
                </a:solidFill>
                <a:latin typeface="Arial"/>
              </a:rPr>
              <a:t>11. Kết luận trình bày với GVHD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rial"/>
              </a:rPr>
              <a:t>Một đề xuất tốt phải có đóng góp rõ và biết tự giới hạn.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234440" cy="36576"/>
          </a:xfrm>
          <a:prstGeom prst="rect">
            <a:avLst/>
          </a:prstGeom>
          <a:solidFill>
            <a:srgbClr val="00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7498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10243E"/>
                </a:solidFill>
                <a:latin typeface="Arial"/>
              </a:rPr>
              <a:t>EmotionCLIP-ReID khả thi nếu được đóng khung là chuyển đổi CLIP-ReID sang FER bằng descriptor ngữ nghĩa cảm xúc.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743200"/>
            <a:ext cx="9601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rial"/>
              </a:defRPr>
            </a:pPr>
            <a:r>
              <a:t>Làm trước: FER dataloader + prompt learning + fixed descriptor + I2T alignment.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rial"/>
              </a:defRPr>
            </a:pPr>
            <a:r>
              <a:t>Làm sau: adapter, AU prompt, uncertainty, Grad-CAM.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  <a:latin typeface="Arial"/>
              </a:defRPr>
            </a:pPr>
            <a:r>
              <a:t>Không tuyên bố: SOTA hoặc tái hiện đầy đủ paper khác khi chưa có protocol.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15000"/>
            <a:ext cx="996696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00827C"/>
                </a:solidFill>
                <a:latin typeface="Arial"/>
              </a:rPr>
              <a:t>Câu hỏi xin ý kiến GVHD: ưu tiên dataset/protocol nào để chứng minh robustness?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EmotionCLIP-ReID proposal | Báo cáo đề xuất mô hình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