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10896" cy="6858000"/>
          </a:xfrm>
          <a:prstGeom prst="rect">
            <a:avLst/>
          </a:prstGeom>
          <a:solidFill>
            <a:srgbClr val="0082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58368"/>
            <a:ext cx="10241280" cy="685800"/>
          </a:xfrm>
          <a:prstGeom prst="rect">
            <a:avLst/>
          </a:prstGeom>
          <a:noFill/>
        </p:spPr>
        <p:txBody>
          <a:bodyPr wrap="square" lIns="36576" rIns="36576" tIns="18288" bIns="18288" anchor="t">
            <a:spAutoFit/>
          </a:bodyPr>
          <a:lstStyle/>
          <a:p>
            <a:pPr algn="l"/>
            <a:r>
              <a:rPr sz="4400" b="1">
                <a:solidFill>
                  <a:srgbClr val="10243E"/>
                </a:solidFill>
                <a:latin typeface="Arial"/>
              </a:rPr>
              <a:t>EmotionCLIP-ReID</a:t>
            </a:r>
          </a:p>
        </p:txBody>
      </p:sp>
      <p:sp>
        <p:nvSpPr>
          <p:cNvPr id="4" name="TextBox 3"/>
          <p:cNvSpPr txBox="1"/>
          <p:nvPr/>
        </p:nvSpPr>
        <p:spPr>
          <a:xfrm>
            <a:off x="749808" y="1389888"/>
            <a:ext cx="9692640" cy="594360"/>
          </a:xfrm>
          <a:prstGeom prst="rect">
            <a:avLst/>
          </a:prstGeom>
          <a:noFill/>
        </p:spPr>
        <p:txBody>
          <a:bodyPr wrap="square" lIns="36576" rIns="36576" tIns="18288" bIns="18288" anchor="t">
            <a:spAutoFit/>
          </a:bodyPr>
          <a:lstStyle/>
          <a:p>
            <a:pPr algn="l"/>
            <a:r>
              <a:rPr sz="2400" b="1">
                <a:solidFill>
                  <a:srgbClr val="006B66"/>
                </a:solidFill>
                <a:latin typeface="Arial"/>
              </a:rPr>
              <a:t>Bối cảnh, research gap và proposal hướng hiện tại</a:t>
            </a:r>
          </a:p>
        </p:txBody>
      </p:sp>
      <p:sp>
        <p:nvSpPr>
          <p:cNvPr id="5" name="TextBox 4"/>
          <p:cNvSpPr txBox="1"/>
          <p:nvPr/>
        </p:nvSpPr>
        <p:spPr>
          <a:xfrm>
            <a:off x="768096" y="2423160"/>
            <a:ext cx="9326880" cy="868680"/>
          </a:xfrm>
          <a:prstGeom prst="rect">
            <a:avLst/>
          </a:prstGeom>
          <a:noFill/>
        </p:spPr>
        <p:txBody>
          <a:bodyPr wrap="square" lIns="36576" rIns="36576" tIns="18288" bIns="18288" anchor="t">
            <a:spAutoFit/>
          </a:bodyPr>
          <a:lstStyle/>
          <a:p>
            <a:pPr algn="l"/>
            <a:r>
              <a:rPr sz="2800" b="1">
                <a:solidFill>
                  <a:srgbClr val="111827"/>
                </a:solidFill>
                <a:latin typeface="Arial"/>
              </a:rPr>
              <a:t>FER in-the-wild kém ổn định khi tín hiệu biểu cảm bị che khuất, biến dạng bởi góc nhìn, nhiễu bởi domain shift và mơ hồ ở nhãn.</a:t>
            </a:r>
          </a:p>
        </p:txBody>
      </p:sp>
      <p:sp>
        <p:nvSpPr>
          <p:cNvPr id="6" name="TextBox 5"/>
          <p:cNvSpPr txBox="1"/>
          <p:nvPr/>
        </p:nvSpPr>
        <p:spPr>
          <a:xfrm>
            <a:off x="804672" y="5394960"/>
            <a:ext cx="8961120" cy="384048"/>
          </a:xfrm>
          <a:prstGeom prst="rect">
            <a:avLst/>
          </a:prstGeom>
          <a:noFill/>
        </p:spPr>
        <p:txBody>
          <a:bodyPr wrap="square" lIns="36576" rIns="36576" tIns="18288" bIns="18288" anchor="t">
            <a:spAutoFit/>
          </a:bodyPr>
          <a:lstStyle/>
          <a:p>
            <a:pPr algn="l"/>
            <a:r>
              <a:rPr sz="1300" b="0">
                <a:solidFill>
                  <a:srgbClr val="475569"/>
                </a:solidFill>
                <a:latin typeface="Arial"/>
              </a:rPr>
              <a:t>Bản trình bày giản lược cho GVHD | Khoa học máy tính</a:t>
            </a:r>
          </a:p>
        </p:txBody>
      </p:sp>
      <p:sp>
        <p:nvSpPr>
          <p:cNvPr id="7" name="TextBox 6"/>
          <p:cNvSpPr txBox="1"/>
          <p:nvPr/>
        </p:nvSpPr>
        <p:spPr>
          <a:xfrm>
            <a:off x="804672" y="5833872"/>
            <a:ext cx="8961120" cy="292608"/>
          </a:xfrm>
          <a:prstGeom prst="rect">
            <a:avLst/>
          </a:prstGeom>
          <a:noFill/>
        </p:spPr>
        <p:txBody>
          <a:bodyPr wrap="square" lIns="36576" rIns="36576" tIns="18288" bIns="18288" anchor="t">
            <a:spAutoFit/>
          </a:bodyPr>
          <a:lstStyle/>
          <a:p>
            <a:pPr algn="l"/>
            <a:r>
              <a:rPr sz="950" b="0">
                <a:solidFill>
                  <a:srgbClr val="475569"/>
                </a:solidFill>
                <a:latin typeface="Arial"/>
              </a:rPr>
              <a:t>Ngày lập: 2026-05-18 | Nguồn: 32-paper workbook + related work docx + proposal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20040"/>
            <a:ext cx="10698480" cy="475488"/>
          </a:xfrm>
          <a:prstGeom prst="rect">
            <a:avLst/>
          </a:prstGeom>
          <a:noFill/>
        </p:spPr>
        <p:txBody>
          <a:bodyPr wrap="square" lIns="36576" rIns="36576" tIns="18288" bIns="18288" anchor="t">
            <a:spAutoFit/>
          </a:bodyPr>
          <a:lstStyle/>
          <a:p>
            <a:pPr algn="l"/>
            <a:r>
              <a:rPr sz="2600" b="1">
                <a:solidFill>
                  <a:srgbClr val="10243E"/>
                </a:solidFill>
                <a:latin typeface="Arial"/>
              </a:rPr>
              <a:t>1. Bối cảnh nghiên cứu</a:t>
            </a:r>
          </a:p>
        </p:txBody>
      </p:sp>
      <p:sp>
        <p:nvSpPr>
          <p:cNvPr id="3" name="TextBox 2"/>
          <p:cNvSpPr txBox="1"/>
          <p:nvPr/>
        </p:nvSpPr>
        <p:spPr>
          <a:xfrm>
            <a:off x="594360" y="804672"/>
            <a:ext cx="10515600" cy="329184"/>
          </a:xfrm>
          <a:prstGeom prst="rect">
            <a:avLst/>
          </a:prstGeom>
          <a:noFill/>
        </p:spPr>
        <p:txBody>
          <a:bodyPr wrap="square" lIns="36576" rIns="36576" tIns="18288" bIns="18288" anchor="t">
            <a:spAutoFit/>
          </a:bodyPr>
          <a:lstStyle/>
          <a:p>
            <a:pPr algn="l"/>
            <a:r>
              <a:rPr sz="1220" b="0">
                <a:solidFill>
                  <a:srgbClr val="475569"/>
                </a:solidFill>
                <a:latin typeface="Arial"/>
              </a:rPr>
              <a:t>Các paper không rời rạc; chúng hội tụ vào vấn đề FER in-the-wild.</a:t>
            </a:r>
          </a:p>
        </p:txBody>
      </p:sp>
      <p:sp>
        <p:nvSpPr>
          <p:cNvPr id="4" name="Rectangle 3"/>
          <p:cNvSpPr/>
          <p:nvPr/>
        </p:nvSpPr>
        <p:spPr>
          <a:xfrm>
            <a:off x="594360" y="1115568"/>
            <a:ext cx="1234440" cy="36576"/>
          </a:xfrm>
          <a:prstGeom prst="rect">
            <a:avLst/>
          </a:prstGeom>
          <a:solidFill>
            <a:srgbClr val="0082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search_context_gap_map.png"/>
          <p:cNvPicPr>
            <a:picLocks noChangeAspect="1"/>
          </p:cNvPicPr>
          <p:nvPr/>
        </p:nvPicPr>
        <p:blipFill>
          <a:blip r:embed="rId2"/>
          <a:stretch>
            <a:fillRect/>
          </a:stretch>
        </p:blipFill>
        <p:spPr>
          <a:xfrm>
            <a:off x="1234440" y="1325880"/>
            <a:ext cx="9708543" cy="5074920"/>
          </a:xfrm>
          <a:prstGeom prst="rect">
            <a:avLst/>
          </a:prstGeom>
        </p:spPr>
      </p:pic>
      <p:sp>
        <p:nvSpPr>
          <p:cNvPr id="6" name="TextBox 5"/>
          <p:cNvSpPr txBox="1"/>
          <p:nvPr/>
        </p:nvSpPr>
        <p:spPr>
          <a:xfrm>
            <a:off x="576072" y="6473952"/>
            <a:ext cx="7772400" cy="182880"/>
          </a:xfrm>
          <a:prstGeom prst="rect">
            <a:avLst/>
          </a:prstGeom>
          <a:noFill/>
        </p:spPr>
        <p:txBody>
          <a:bodyPr wrap="square" lIns="36576" rIns="36576" tIns="18288" bIns="18288" anchor="t">
            <a:spAutoFit/>
          </a:bodyPr>
          <a:lstStyle/>
          <a:p>
            <a:pPr algn="l"/>
            <a:r>
              <a:rPr sz="750" b="0">
                <a:solidFill>
                  <a:srgbClr val="475569"/>
                </a:solidFill>
                <a:latin typeface="Arial"/>
              </a:rPr>
              <a:t>EmotionCLIP-ReID | Research gap &amp; proposal brief</a:t>
            </a:r>
          </a:p>
        </p:txBody>
      </p:sp>
      <p:sp>
        <p:nvSpPr>
          <p:cNvPr id="7" name="TextBox 6"/>
          <p:cNvSpPr txBox="1"/>
          <p:nvPr/>
        </p:nvSpPr>
        <p:spPr>
          <a:xfrm>
            <a:off x="11201400" y="6437376"/>
            <a:ext cx="502920" cy="201168"/>
          </a:xfrm>
          <a:prstGeom prst="rect">
            <a:avLst/>
          </a:prstGeom>
          <a:noFill/>
        </p:spPr>
        <p:txBody>
          <a:bodyPr wrap="square" lIns="36576" rIns="36576" tIns="18288" bIns="18288" anchor="t">
            <a:spAutoFit/>
          </a:bodyPr>
          <a:lstStyle/>
          <a:p>
            <a:pPr algn="r"/>
            <a:r>
              <a:rPr sz="800" b="0">
                <a:solidFill>
                  <a:srgbClr val="475569"/>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20040"/>
            <a:ext cx="10698480" cy="475488"/>
          </a:xfrm>
          <a:prstGeom prst="rect">
            <a:avLst/>
          </a:prstGeom>
          <a:noFill/>
        </p:spPr>
        <p:txBody>
          <a:bodyPr wrap="square" lIns="36576" rIns="36576" tIns="18288" bIns="18288" anchor="t">
            <a:spAutoFit/>
          </a:bodyPr>
          <a:lstStyle/>
          <a:p>
            <a:pPr algn="l"/>
            <a:r>
              <a:rPr sz="2600" b="1">
                <a:solidFill>
                  <a:srgbClr val="10243E"/>
                </a:solidFill>
                <a:latin typeface="Arial"/>
              </a:rPr>
              <a:t>2. Research gaps</a:t>
            </a:r>
          </a:p>
        </p:txBody>
      </p:sp>
      <p:sp>
        <p:nvSpPr>
          <p:cNvPr id="3" name="TextBox 2"/>
          <p:cNvSpPr txBox="1"/>
          <p:nvPr/>
        </p:nvSpPr>
        <p:spPr>
          <a:xfrm>
            <a:off x="594360" y="804672"/>
            <a:ext cx="10515600" cy="329184"/>
          </a:xfrm>
          <a:prstGeom prst="rect">
            <a:avLst/>
          </a:prstGeom>
          <a:noFill/>
        </p:spPr>
        <p:txBody>
          <a:bodyPr wrap="square" lIns="36576" rIns="36576" tIns="18288" bIns="18288" anchor="t">
            <a:spAutoFit/>
          </a:bodyPr>
          <a:lstStyle/>
          <a:p>
            <a:pPr algn="l"/>
            <a:r>
              <a:rPr sz="1220" b="0">
                <a:solidFill>
                  <a:srgbClr val="475569"/>
                </a:solidFill>
                <a:latin typeface="Arial"/>
              </a:rPr>
              <a:t>Bảng gap cụ thể: bối cảnh, tác động và cách chứng minh trong proposal.</a:t>
            </a:r>
          </a:p>
        </p:txBody>
      </p:sp>
      <p:sp>
        <p:nvSpPr>
          <p:cNvPr id="4" name="Rectangle 3"/>
          <p:cNvSpPr/>
          <p:nvPr/>
        </p:nvSpPr>
        <p:spPr>
          <a:xfrm>
            <a:off x="594360" y="1115568"/>
            <a:ext cx="1234440" cy="36576"/>
          </a:xfrm>
          <a:prstGeom prst="rect">
            <a:avLst/>
          </a:prstGeom>
          <a:solidFill>
            <a:srgbClr val="0082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0352" y="1298448"/>
            <a:ext cx="512064" cy="384048"/>
          </a:xfrm>
          <a:prstGeom prst="rect">
            <a:avLst/>
          </a:prstGeom>
          <a:solidFill>
            <a:srgbClr val="10243E"/>
          </a:solidFill>
          <a:ln w="9525">
            <a:solidFill>
              <a:srgbClr val="102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59" y="1362456"/>
            <a:ext cx="384048" cy="274320"/>
          </a:xfrm>
          <a:prstGeom prst="rect">
            <a:avLst/>
          </a:prstGeom>
          <a:noFill/>
        </p:spPr>
        <p:txBody>
          <a:bodyPr wrap="square" lIns="36576" rIns="36576" tIns="18288" bIns="18288" anchor="t">
            <a:spAutoFit/>
          </a:bodyPr>
          <a:lstStyle/>
          <a:p>
            <a:pPr algn="ctr"/>
            <a:r>
              <a:rPr sz="840" b="1">
                <a:solidFill>
                  <a:srgbClr val="FFFFFF"/>
                </a:solidFill>
                <a:latin typeface="Arial"/>
              </a:rPr>
              <a:t>Gap</a:t>
            </a:r>
          </a:p>
        </p:txBody>
      </p:sp>
      <p:sp>
        <p:nvSpPr>
          <p:cNvPr id="7" name="Rectangle 6"/>
          <p:cNvSpPr/>
          <p:nvPr/>
        </p:nvSpPr>
        <p:spPr>
          <a:xfrm>
            <a:off x="1042416" y="1298448"/>
            <a:ext cx="3675887" cy="384048"/>
          </a:xfrm>
          <a:prstGeom prst="rect">
            <a:avLst/>
          </a:prstGeom>
          <a:solidFill>
            <a:srgbClr val="10243E"/>
          </a:solidFill>
          <a:ln w="9525">
            <a:solidFill>
              <a:srgbClr val="102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6424" y="1362456"/>
            <a:ext cx="3547871" cy="274320"/>
          </a:xfrm>
          <a:prstGeom prst="rect">
            <a:avLst/>
          </a:prstGeom>
          <a:noFill/>
        </p:spPr>
        <p:txBody>
          <a:bodyPr wrap="square" lIns="36576" rIns="36576" tIns="18288" bIns="18288" anchor="t">
            <a:spAutoFit/>
          </a:bodyPr>
          <a:lstStyle/>
          <a:p>
            <a:pPr algn="ctr"/>
            <a:r>
              <a:rPr sz="840" b="1">
                <a:solidFill>
                  <a:srgbClr val="FFFFFF"/>
                </a:solidFill>
                <a:latin typeface="Arial"/>
              </a:rPr>
              <a:t>Khoảng trống cụ thể</a:t>
            </a:r>
          </a:p>
        </p:txBody>
      </p:sp>
      <p:sp>
        <p:nvSpPr>
          <p:cNvPr id="9" name="Rectangle 8"/>
          <p:cNvSpPr/>
          <p:nvPr/>
        </p:nvSpPr>
        <p:spPr>
          <a:xfrm>
            <a:off x="4718304" y="1298448"/>
            <a:ext cx="3090672" cy="384048"/>
          </a:xfrm>
          <a:prstGeom prst="rect">
            <a:avLst/>
          </a:prstGeom>
          <a:solidFill>
            <a:srgbClr val="10243E"/>
          </a:solidFill>
          <a:ln w="9525">
            <a:solidFill>
              <a:srgbClr val="102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82312" y="1362456"/>
            <a:ext cx="2962656" cy="274320"/>
          </a:xfrm>
          <a:prstGeom prst="rect">
            <a:avLst/>
          </a:prstGeom>
          <a:noFill/>
        </p:spPr>
        <p:txBody>
          <a:bodyPr wrap="square" lIns="36576" rIns="36576" tIns="18288" bIns="18288" anchor="t">
            <a:spAutoFit/>
          </a:bodyPr>
          <a:lstStyle/>
          <a:p>
            <a:pPr algn="ctr"/>
            <a:r>
              <a:rPr sz="840" b="1">
                <a:solidFill>
                  <a:srgbClr val="FFFFFF"/>
                </a:solidFill>
                <a:latin typeface="Arial"/>
              </a:rPr>
              <a:t>Tác động</a:t>
            </a:r>
          </a:p>
        </p:txBody>
      </p:sp>
      <p:sp>
        <p:nvSpPr>
          <p:cNvPr id="11" name="Rectangle 10"/>
          <p:cNvSpPr/>
          <p:nvPr/>
        </p:nvSpPr>
        <p:spPr>
          <a:xfrm>
            <a:off x="7808975" y="1298448"/>
            <a:ext cx="3877056" cy="384048"/>
          </a:xfrm>
          <a:prstGeom prst="rect">
            <a:avLst/>
          </a:prstGeom>
          <a:solidFill>
            <a:srgbClr val="10243E"/>
          </a:solidFill>
          <a:ln w="9525">
            <a:solidFill>
              <a:srgbClr val="1024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2983" y="1362456"/>
            <a:ext cx="3749040" cy="274320"/>
          </a:xfrm>
          <a:prstGeom prst="rect">
            <a:avLst/>
          </a:prstGeom>
          <a:noFill/>
        </p:spPr>
        <p:txBody>
          <a:bodyPr wrap="square" lIns="36576" rIns="36576" tIns="18288" bIns="18288" anchor="t">
            <a:spAutoFit/>
          </a:bodyPr>
          <a:lstStyle/>
          <a:p>
            <a:pPr algn="ctr"/>
            <a:r>
              <a:rPr sz="840" b="1">
                <a:solidFill>
                  <a:srgbClr val="FFFFFF"/>
                </a:solidFill>
                <a:latin typeface="Arial"/>
              </a:rPr>
              <a:t>Cách trả lời / chứng minh</a:t>
            </a:r>
          </a:p>
        </p:txBody>
      </p:sp>
      <p:sp>
        <p:nvSpPr>
          <p:cNvPr id="13" name="Rectangle 12"/>
          <p:cNvSpPr/>
          <p:nvPr/>
        </p:nvSpPr>
        <p:spPr>
          <a:xfrm>
            <a:off x="530352" y="1682495"/>
            <a:ext cx="512064" cy="1069848"/>
          </a:xfrm>
          <a:prstGeom prst="rect">
            <a:avLst/>
          </a:prstGeom>
          <a:solidFill>
            <a:srgbClr val="EAF2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59" y="1746504"/>
            <a:ext cx="384048" cy="960119"/>
          </a:xfrm>
          <a:prstGeom prst="rect">
            <a:avLst/>
          </a:prstGeom>
          <a:noFill/>
        </p:spPr>
        <p:txBody>
          <a:bodyPr wrap="square" lIns="36576" rIns="36576" tIns="18288" bIns="18288" anchor="t">
            <a:spAutoFit/>
          </a:bodyPr>
          <a:lstStyle/>
          <a:p>
            <a:pPr algn="ctr"/>
            <a:r>
              <a:rPr sz="850" b="1">
                <a:solidFill>
                  <a:srgbClr val="2563EB"/>
                </a:solidFill>
                <a:latin typeface="Arial"/>
              </a:rPr>
              <a:t>G1</a:t>
            </a:r>
          </a:p>
        </p:txBody>
      </p:sp>
      <p:sp>
        <p:nvSpPr>
          <p:cNvPr id="15" name="Rectangle 14"/>
          <p:cNvSpPr/>
          <p:nvPr/>
        </p:nvSpPr>
        <p:spPr>
          <a:xfrm>
            <a:off x="1042416" y="1682495"/>
            <a:ext cx="3675887" cy="1069848"/>
          </a:xfrm>
          <a:prstGeom prst="rect">
            <a:avLst/>
          </a:prstGeom>
          <a:solidFill>
            <a:srgbClr val="EAF2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06424" y="1746504"/>
            <a:ext cx="3547871" cy="960119"/>
          </a:xfrm>
          <a:prstGeom prst="rect">
            <a:avLst/>
          </a:prstGeom>
          <a:noFill/>
        </p:spPr>
        <p:txBody>
          <a:bodyPr wrap="square" lIns="36576" rIns="36576" tIns="18288" bIns="18288" anchor="t">
            <a:spAutoFit/>
          </a:bodyPr>
          <a:lstStyle/>
          <a:p>
            <a:pPr algn="l"/>
            <a:r>
              <a:rPr sz="780" b="0">
                <a:solidFill>
                  <a:srgbClr val="111827"/>
                </a:solidFill>
                <a:latin typeface="Arial"/>
              </a:rPr>
              <a:t>Class-name prompt quá thô; ID-token của CLIP-ReID chỉ định danh, chưa mô tả AU/vùng mắt-miệng-lông mày.</a:t>
            </a:r>
          </a:p>
        </p:txBody>
      </p:sp>
      <p:sp>
        <p:nvSpPr>
          <p:cNvPr id="17" name="Rectangle 16"/>
          <p:cNvSpPr/>
          <p:nvPr/>
        </p:nvSpPr>
        <p:spPr>
          <a:xfrm>
            <a:off x="4718304" y="1682495"/>
            <a:ext cx="3090672" cy="1069848"/>
          </a:xfrm>
          <a:prstGeom prst="rect">
            <a:avLst/>
          </a:prstGeom>
          <a:solidFill>
            <a:srgbClr val="EAF2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82312" y="1746504"/>
            <a:ext cx="2962656" cy="960119"/>
          </a:xfrm>
          <a:prstGeom prst="rect">
            <a:avLst/>
          </a:prstGeom>
          <a:noFill/>
        </p:spPr>
        <p:txBody>
          <a:bodyPr wrap="square" lIns="36576" rIns="36576" tIns="18288" bIns="18288" anchor="t">
            <a:spAutoFit/>
          </a:bodyPr>
          <a:lstStyle/>
          <a:p>
            <a:pPr algn="l"/>
            <a:r>
              <a:rPr sz="780" b="0">
                <a:solidFill>
                  <a:srgbClr val="111827"/>
                </a:solidFill>
                <a:latin typeface="Arial"/>
              </a:rPr>
              <a:t>Feature khó diễn giải, dễ học shortcut theo dataset; yếu khi occlusion/pose làm mất tín hiệu cục bộ.</a:t>
            </a:r>
          </a:p>
        </p:txBody>
      </p:sp>
      <p:sp>
        <p:nvSpPr>
          <p:cNvPr id="19" name="Rectangle 18"/>
          <p:cNvSpPr/>
          <p:nvPr/>
        </p:nvSpPr>
        <p:spPr>
          <a:xfrm>
            <a:off x="7808975" y="1682495"/>
            <a:ext cx="3877056" cy="1069848"/>
          </a:xfrm>
          <a:prstGeom prst="rect">
            <a:avLst/>
          </a:prstGeom>
          <a:solidFill>
            <a:srgbClr val="EAF2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2983" y="1746504"/>
            <a:ext cx="3749040" cy="960119"/>
          </a:xfrm>
          <a:prstGeom prst="rect">
            <a:avLst/>
          </a:prstGeom>
          <a:noFill/>
        </p:spPr>
        <p:txBody>
          <a:bodyPr wrap="square" lIns="36576" rIns="36576" tIns="18288" bIns="18288" anchor="t">
            <a:spAutoFit/>
          </a:bodyPr>
          <a:lstStyle/>
          <a:p>
            <a:pPr algn="l"/>
            <a:r>
              <a:rPr sz="760" b="0">
                <a:solidFill>
                  <a:srgbClr val="111827"/>
                </a:solidFill>
                <a:latin typeface="Arial"/>
              </a:rPr>
              <a:t>Emotion/AU descriptors gồm label + mô tả vùng cơ mặt; ablate class prompt vs learned/AU descriptor; retrieval/visualization.</a:t>
            </a:r>
          </a:p>
        </p:txBody>
      </p:sp>
      <p:sp>
        <p:nvSpPr>
          <p:cNvPr id="21" name="Rectangle 20"/>
          <p:cNvSpPr/>
          <p:nvPr/>
        </p:nvSpPr>
        <p:spPr>
          <a:xfrm>
            <a:off x="530352" y="2752344"/>
            <a:ext cx="512064" cy="1069848"/>
          </a:xfrm>
          <a:prstGeom prst="rect">
            <a:avLst/>
          </a:prstGeom>
          <a:solidFill>
            <a:srgbClr val="E8F7F4"/>
          </a:solidFill>
          <a:ln w="9525">
            <a:solidFill>
              <a:srgbClr val="0082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59" y="2816351"/>
            <a:ext cx="384048" cy="960119"/>
          </a:xfrm>
          <a:prstGeom prst="rect">
            <a:avLst/>
          </a:prstGeom>
          <a:noFill/>
        </p:spPr>
        <p:txBody>
          <a:bodyPr wrap="square" lIns="36576" rIns="36576" tIns="18288" bIns="18288" anchor="t">
            <a:spAutoFit/>
          </a:bodyPr>
          <a:lstStyle/>
          <a:p>
            <a:pPr algn="ctr"/>
            <a:r>
              <a:rPr sz="850" b="1">
                <a:solidFill>
                  <a:srgbClr val="00827C"/>
                </a:solidFill>
                <a:latin typeface="Arial"/>
              </a:rPr>
              <a:t>G2</a:t>
            </a:r>
          </a:p>
        </p:txBody>
      </p:sp>
      <p:sp>
        <p:nvSpPr>
          <p:cNvPr id="23" name="Rectangle 22"/>
          <p:cNvSpPr/>
          <p:nvPr/>
        </p:nvSpPr>
        <p:spPr>
          <a:xfrm>
            <a:off x="1042416" y="2752344"/>
            <a:ext cx="3675887" cy="1069848"/>
          </a:xfrm>
          <a:prstGeom prst="rect">
            <a:avLst/>
          </a:prstGeom>
          <a:solidFill>
            <a:srgbClr val="E8F7F4"/>
          </a:solidFill>
          <a:ln w="9525">
            <a:solidFill>
              <a:srgbClr val="0082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06424" y="2816351"/>
            <a:ext cx="3547871" cy="960119"/>
          </a:xfrm>
          <a:prstGeom prst="rect">
            <a:avLst/>
          </a:prstGeom>
          <a:noFill/>
        </p:spPr>
        <p:txBody>
          <a:bodyPr wrap="square" lIns="36576" rIns="36576" tIns="18288" bIns="18288" anchor="t">
            <a:spAutoFit/>
          </a:bodyPr>
          <a:lstStyle/>
          <a:p>
            <a:pPr algn="l"/>
            <a:r>
              <a:rPr sz="780" b="0">
                <a:solidFill>
                  <a:srgbClr val="111827"/>
                </a:solidFill>
                <a:latin typeface="Arial"/>
              </a:rPr>
              <a:t>Descriptor thường chỉ là cue phụ, chưa được cố định thành semantic anchor dẫn hướng image encoder qua huấn luyện.</a:t>
            </a:r>
          </a:p>
        </p:txBody>
      </p:sp>
      <p:sp>
        <p:nvSpPr>
          <p:cNvPr id="25" name="Rectangle 24"/>
          <p:cNvSpPr/>
          <p:nvPr/>
        </p:nvSpPr>
        <p:spPr>
          <a:xfrm>
            <a:off x="4718304" y="2752344"/>
            <a:ext cx="3090672" cy="1069848"/>
          </a:xfrm>
          <a:prstGeom prst="rect">
            <a:avLst/>
          </a:prstGeom>
          <a:solidFill>
            <a:srgbClr val="E8F7F4"/>
          </a:solidFill>
          <a:ln w="9525">
            <a:solidFill>
              <a:srgbClr val="0082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82312" y="2816351"/>
            <a:ext cx="2962656" cy="960119"/>
          </a:xfrm>
          <a:prstGeom prst="rect">
            <a:avLst/>
          </a:prstGeom>
          <a:noFill/>
        </p:spPr>
        <p:txBody>
          <a:bodyPr wrap="square" lIns="36576" rIns="36576" tIns="18288" bIns="18288" anchor="t">
            <a:spAutoFit/>
          </a:bodyPr>
          <a:lstStyle/>
          <a:p>
            <a:pPr algn="l"/>
            <a:r>
              <a:rPr sz="780" b="0">
                <a:solidFill>
                  <a:srgbClr val="111827"/>
                </a:solidFill>
                <a:latin typeface="Arial"/>
              </a:rPr>
              <a:t>Khó chứng minh text side thật sự kéo visual embedding; đóng góp dễ bị hiểu là thêm adapter/loss.</a:t>
            </a:r>
          </a:p>
        </p:txBody>
      </p:sp>
      <p:sp>
        <p:nvSpPr>
          <p:cNvPr id="27" name="Rectangle 26"/>
          <p:cNvSpPr/>
          <p:nvPr/>
        </p:nvSpPr>
        <p:spPr>
          <a:xfrm>
            <a:off x="7808975" y="2752344"/>
            <a:ext cx="3877056" cy="1069848"/>
          </a:xfrm>
          <a:prstGeom prst="rect">
            <a:avLst/>
          </a:prstGeom>
          <a:solidFill>
            <a:srgbClr val="E8F7F4"/>
          </a:solidFill>
          <a:ln w="9525">
            <a:solidFill>
              <a:srgbClr val="0082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72983" y="2816351"/>
            <a:ext cx="3749040" cy="960119"/>
          </a:xfrm>
          <a:prstGeom prst="rect">
            <a:avLst/>
          </a:prstGeom>
          <a:noFill/>
        </p:spPr>
        <p:txBody>
          <a:bodyPr wrap="square" lIns="36576" rIns="36576" tIns="18288" bIns="18288" anchor="t">
            <a:spAutoFit/>
          </a:bodyPr>
          <a:lstStyle/>
          <a:p>
            <a:pPr algn="l"/>
            <a:r>
              <a:rPr sz="760" b="0">
                <a:solidFill>
                  <a:srgbClr val="111827"/>
                </a:solidFill>
                <a:latin typeface="Arial"/>
              </a:rPr>
              <a:t>Stage 1 học descriptor; Stage 2 freeze descriptor + L_cls + beta L_i2t; ablate no-freeze, no-I2T, class prompt.</a:t>
            </a:r>
          </a:p>
        </p:txBody>
      </p:sp>
      <p:sp>
        <p:nvSpPr>
          <p:cNvPr id="29" name="Rectangle 28"/>
          <p:cNvSpPr/>
          <p:nvPr/>
        </p:nvSpPr>
        <p:spPr>
          <a:xfrm>
            <a:off x="530352" y="3822191"/>
            <a:ext cx="512064" cy="1069848"/>
          </a:xfrm>
          <a:prstGeom prst="rect">
            <a:avLst/>
          </a:prstGeom>
          <a:solidFill>
            <a:srgbClr val="FFF7E6"/>
          </a:solidFill>
          <a:ln w="9525">
            <a:solidFill>
              <a:srgbClr val="C77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59" y="3886200"/>
            <a:ext cx="384048" cy="960119"/>
          </a:xfrm>
          <a:prstGeom prst="rect">
            <a:avLst/>
          </a:prstGeom>
          <a:noFill/>
        </p:spPr>
        <p:txBody>
          <a:bodyPr wrap="square" lIns="36576" rIns="36576" tIns="18288" bIns="18288" anchor="t">
            <a:spAutoFit/>
          </a:bodyPr>
          <a:lstStyle/>
          <a:p>
            <a:pPr algn="ctr"/>
            <a:r>
              <a:rPr sz="850" b="1">
                <a:solidFill>
                  <a:srgbClr val="C77D00"/>
                </a:solidFill>
                <a:latin typeface="Arial"/>
              </a:rPr>
              <a:t>G3</a:t>
            </a:r>
          </a:p>
        </p:txBody>
      </p:sp>
      <p:sp>
        <p:nvSpPr>
          <p:cNvPr id="31" name="Rectangle 30"/>
          <p:cNvSpPr/>
          <p:nvPr/>
        </p:nvSpPr>
        <p:spPr>
          <a:xfrm>
            <a:off x="1042416" y="3822191"/>
            <a:ext cx="3675887" cy="1069848"/>
          </a:xfrm>
          <a:prstGeom prst="rect">
            <a:avLst/>
          </a:prstGeom>
          <a:solidFill>
            <a:srgbClr val="FFF7E6"/>
          </a:solidFill>
          <a:ln w="9525">
            <a:solidFill>
              <a:srgbClr val="C77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06424" y="3886200"/>
            <a:ext cx="3547871" cy="960119"/>
          </a:xfrm>
          <a:prstGeom prst="rect">
            <a:avLst/>
          </a:prstGeom>
          <a:noFill/>
        </p:spPr>
        <p:txBody>
          <a:bodyPr wrap="square" lIns="36576" rIns="36576" tIns="18288" bIns="18288" anchor="t">
            <a:spAutoFit/>
          </a:bodyPr>
          <a:lstStyle/>
          <a:p>
            <a:pPr algn="l"/>
            <a:r>
              <a:rPr sz="780" b="0">
                <a:solidFill>
                  <a:srgbClr val="111827"/>
                </a:solidFill>
                <a:latin typeface="Arial"/>
              </a:rPr>
              <a:t>AU/FACS diễn giải tốt nhưng AU label hiếm; pseudo-AU nhiễu khi che khuất, pose lệch, ảnh mờ/ánh sáng kém.</a:t>
            </a:r>
          </a:p>
        </p:txBody>
      </p:sp>
      <p:sp>
        <p:nvSpPr>
          <p:cNvPr id="33" name="Rectangle 32"/>
          <p:cNvSpPr/>
          <p:nvPr/>
        </p:nvSpPr>
        <p:spPr>
          <a:xfrm>
            <a:off x="4718304" y="3822191"/>
            <a:ext cx="3090672" cy="1069848"/>
          </a:xfrm>
          <a:prstGeom prst="rect">
            <a:avLst/>
          </a:prstGeom>
          <a:solidFill>
            <a:srgbClr val="FFF7E6"/>
          </a:solidFill>
          <a:ln w="9525">
            <a:solidFill>
              <a:srgbClr val="C77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82312" y="3886200"/>
            <a:ext cx="2962656" cy="960119"/>
          </a:xfrm>
          <a:prstGeom prst="rect">
            <a:avLst/>
          </a:prstGeom>
          <a:noFill/>
        </p:spPr>
        <p:txBody>
          <a:bodyPr wrap="square" lIns="36576" rIns="36576" tIns="18288" bIns="18288" anchor="t">
            <a:spAutoFit/>
          </a:bodyPr>
          <a:lstStyle/>
          <a:p>
            <a:pPr algn="l"/>
            <a:r>
              <a:rPr sz="780" b="0">
                <a:solidFill>
                  <a:srgbClr val="111827"/>
                </a:solidFill>
                <a:latin typeface="Arial"/>
              </a:rPr>
              <a:t>Nếu bắt buộc AU thật, phạm vi hẹp; pseudo-AU sai có thể làm descriptor lệch hướng và giảm kết quả.</a:t>
            </a:r>
          </a:p>
        </p:txBody>
      </p:sp>
      <p:sp>
        <p:nvSpPr>
          <p:cNvPr id="35" name="Rectangle 34"/>
          <p:cNvSpPr/>
          <p:nvPr/>
        </p:nvSpPr>
        <p:spPr>
          <a:xfrm>
            <a:off x="7808975" y="3822191"/>
            <a:ext cx="3877056" cy="1069848"/>
          </a:xfrm>
          <a:prstGeom prst="rect">
            <a:avLst/>
          </a:prstGeom>
          <a:solidFill>
            <a:srgbClr val="FFF7E6"/>
          </a:solidFill>
          <a:ln w="9525">
            <a:solidFill>
              <a:srgbClr val="C77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72983" y="3886200"/>
            <a:ext cx="3749040" cy="960119"/>
          </a:xfrm>
          <a:prstGeom prst="rect">
            <a:avLst/>
          </a:prstGeom>
          <a:noFill/>
        </p:spPr>
        <p:txBody>
          <a:bodyPr wrap="square" lIns="36576" rIns="36576" tIns="18288" bIns="18288" anchor="t">
            <a:spAutoFit/>
          </a:bodyPr>
          <a:lstStyle/>
          <a:p>
            <a:pPr algn="l"/>
            <a:r>
              <a:rPr sz="760" b="0">
                <a:solidFill>
                  <a:srgbClr val="111827"/>
                </a:solidFill>
                <a:latin typeface="Arial"/>
              </a:rPr>
              <a:t>V1 dùng emotion descriptor làm lõi; AU/pseudo-AU là prior có điều kiện; threshold/missing mask; with/without AU.</a:t>
            </a:r>
          </a:p>
        </p:txBody>
      </p:sp>
      <p:sp>
        <p:nvSpPr>
          <p:cNvPr id="37" name="Rectangle 36"/>
          <p:cNvSpPr/>
          <p:nvPr/>
        </p:nvSpPr>
        <p:spPr>
          <a:xfrm>
            <a:off x="530352" y="4892040"/>
            <a:ext cx="512064" cy="1069848"/>
          </a:xfrm>
          <a:prstGeom prst="rect">
            <a:avLst/>
          </a:prstGeom>
          <a:solidFill>
            <a:srgbClr val="FFF1F2"/>
          </a:solidFill>
          <a:ln w="9525">
            <a:solidFill>
              <a:srgbClr val="B423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59" y="4956048"/>
            <a:ext cx="384048" cy="960119"/>
          </a:xfrm>
          <a:prstGeom prst="rect">
            <a:avLst/>
          </a:prstGeom>
          <a:noFill/>
        </p:spPr>
        <p:txBody>
          <a:bodyPr wrap="square" lIns="36576" rIns="36576" tIns="18288" bIns="18288" anchor="t">
            <a:spAutoFit/>
          </a:bodyPr>
          <a:lstStyle/>
          <a:p>
            <a:pPr algn="ctr"/>
            <a:r>
              <a:rPr sz="850" b="1">
                <a:solidFill>
                  <a:srgbClr val="B42318"/>
                </a:solidFill>
                <a:latin typeface="Arial"/>
              </a:rPr>
              <a:t>G4</a:t>
            </a:r>
          </a:p>
        </p:txBody>
      </p:sp>
      <p:sp>
        <p:nvSpPr>
          <p:cNvPr id="39" name="Rectangle 38"/>
          <p:cNvSpPr/>
          <p:nvPr/>
        </p:nvSpPr>
        <p:spPr>
          <a:xfrm>
            <a:off x="1042416" y="4892040"/>
            <a:ext cx="3675887" cy="1069848"/>
          </a:xfrm>
          <a:prstGeom prst="rect">
            <a:avLst/>
          </a:prstGeom>
          <a:solidFill>
            <a:srgbClr val="FFF1F2"/>
          </a:solidFill>
          <a:ln w="9525">
            <a:solidFill>
              <a:srgbClr val="B423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06424" y="4956048"/>
            <a:ext cx="3547871" cy="960119"/>
          </a:xfrm>
          <a:prstGeom prst="rect">
            <a:avLst/>
          </a:prstGeom>
          <a:noFill/>
        </p:spPr>
        <p:txBody>
          <a:bodyPr wrap="square" lIns="36576" rIns="36576" tIns="18288" bIns="18288" anchor="t">
            <a:spAutoFit/>
          </a:bodyPr>
          <a:lstStyle/>
          <a:p>
            <a:pPr algn="l"/>
            <a:r>
              <a:rPr sz="780" b="0">
                <a:solidFill>
                  <a:srgbClr val="111827"/>
                </a:solidFill>
                <a:latin typeface="Arial"/>
              </a:rPr>
              <a:t>Robustness hay chỉ được báo bằng accuracy tổng, thiếu subset occlusion/pose/viewpoint/domain shift/ambiguous.</a:t>
            </a:r>
          </a:p>
        </p:txBody>
      </p:sp>
      <p:sp>
        <p:nvSpPr>
          <p:cNvPr id="41" name="Rectangle 40"/>
          <p:cNvSpPr/>
          <p:nvPr/>
        </p:nvSpPr>
        <p:spPr>
          <a:xfrm>
            <a:off x="4718304" y="4892040"/>
            <a:ext cx="3090672" cy="1069848"/>
          </a:xfrm>
          <a:prstGeom prst="rect">
            <a:avLst/>
          </a:prstGeom>
          <a:solidFill>
            <a:srgbClr val="FFF1F2"/>
          </a:solidFill>
          <a:ln w="9525">
            <a:solidFill>
              <a:srgbClr val="B423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82312" y="4956048"/>
            <a:ext cx="2962656" cy="960119"/>
          </a:xfrm>
          <a:prstGeom prst="rect">
            <a:avLst/>
          </a:prstGeom>
          <a:noFill/>
        </p:spPr>
        <p:txBody>
          <a:bodyPr wrap="square" lIns="36576" rIns="36576" tIns="18288" bIns="18288" anchor="t">
            <a:spAutoFit/>
          </a:bodyPr>
          <a:lstStyle/>
          <a:p>
            <a:pPr algn="l"/>
            <a:r>
              <a:rPr sz="780" b="0">
                <a:solidFill>
                  <a:srgbClr val="111827"/>
                </a:solidFill>
                <a:latin typeface="Arial"/>
              </a:rPr>
              <a:t>Claim bền vững và interpretability chưa thuyết phục; mô hình có thể overconfident trên mẫu khó.</a:t>
            </a:r>
          </a:p>
        </p:txBody>
      </p:sp>
      <p:sp>
        <p:nvSpPr>
          <p:cNvPr id="43" name="Rectangle 42"/>
          <p:cNvSpPr/>
          <p:nvPr/>
        </p:nvSpPr>
        <p:spPr>
          <a:xfrm>
            <a:off x="7808975" y="4892040"/>
            <a:ext cx="3877056" cy="1069848"/>
          </a:xfrm>
          <a:prstGeom prst="rect">
            <a:avLst/>
          </a:prstGeom>
          <a:solidFill>
            <a:srgbClr val="FFF1F2"/>
          </a:solidFill>
          <a:ln w="9525">
            <a:solidFill>
              <a:srgbClr val="B423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72983" y="4956048"/>
            <a:ext cx="3749040" cy="960119"/>
          </a:xfrm>
          <a:prstGeom prst="rect">
            <a:avLst/>
          </a:prstGeom>
          <a:noFill/>
        </p:spPr>
        <p:txBody>
          <a:bodyPr wrap="square" lIns="36576" rIns="36576" tIns="18288" bIns="18288" anchor="t">
            <a:spAutoFit/>
          </a:bodyPr>
          <a:lstStyle/>
          <a:p>
            <a:pPr algn="l"/>
            <a:r>
              <a:rPr sz="760" b="0">
                <a:solidFill>
                  <a:srgbClr val="111827"/>
                </a:solidFill>
                <a:latin typeface="Arial"/>
              </a:rPr>
              <a:t>Subset khó + macro-F1/balanced accuracy, confusion matrix, ECE/NLL; chỉ giữ uncertainty nếu calibration tốt hơn.</a:t>
            </a:r>
          </a:p>
        </p:txBody>
      </p:sp>
      <p:sp>
        <p:nvSpPr>
          <p:cNvPr id="45" name="TextBox 44"/>
          <p:cNvSpPr txBox="1"/>
          <p:nvPr/>
        </p:nvSpPr>
        <p:spPr>
          <a:xfrm>
            <a:off x="676656" y="6062472"/>
            <a:ext cx="10789920" cy="237744"/>
          </a:xfrm>
          <a:prstGeom prst="rect">
            <a:avLst/>
          </a:prstGeom>
          <a:noFill/>
        </p:spPr>
        <p:txBody>
          <a:bodyPr wrap="square" lIns="36576" rIns="36576" tIns="18288" bIns="18288" anchor="t">
            <a:spAutoFit/>
          </a:bodyPr>
          <a:lstStyle/>
          <a:p>
            <a:pPr algn="ctr"/>
            <a:r>
              <a:rPr sz="819" b="0">
                <a:solidFill>
                  <a:srgbClr val="475569"/>
                </a:solidFill>
                <a:latin typeface="Arial"/>
              </a:rPr>
              <a:t>Cách đọc: các gap là bằng chứng bối cảnh cho research problem FER in-the-wild; descriptor anchoring là hướng trả lời.</a:t>
            </a:r>
          </a:p>
        </p:txBody>
      </p:sp>
      <p:sp>
        <p:nvSpPr>
          <p:cNvPr id="46" name="TextBox 45"/>
          <p:cNvSpPr txBox="1"/>
          <p:nvPr/>
        </p:nvSpPr>
        <p:spPr>
          <a:xfrm>
            <a:off x="576072" y="6473952"/>
            <a:ext cx="7772400" cy="182880"/>
          </a:xfrm>
          <a:prstGeom prst="rect">
            <a:avLst/>
          </a:prstGeom>
          <a:noFill/>
        </p:spPr>
        <p:txBody>
          <a:bodyPr wrap="square" lIns="36576" rIns="36576" tIns="18288" bIns="18288" anchor="t">
            <a:spAutoFit/>
          </a:bodyPr>
          <a:lstStyle/>
          <a:p>
            <a:pPr algn="l"/>
            <a:r>
              <a:rPr sz="750" b="0">
                <a:solidFill>
                  <a:srgbClr val="475569"/>
                </a:solidFill>
                <a:latin typeface="Arial"/>
              </a:rPr>
              <a:t>EmotionCLIP-ReID | Research gap &amp; proposal brief</a:t>
            </a:r>
          </a:p>
        </p:txBody>
      </p:sp>
      <p:sp>
        <p:nvSpPr>
          <p:cNvPr id="47" name="TextBox 46"/>
          <p:cNvSpPr txBox="1"/>
          <p:nvPr/>
        </p:nvSpPr>
        <p:spPr>
          <a:xfrm>
            <a:off x="11201400" y="6437376"/>
            <a:ext cx="502920" cy="201168"/>
          </a:xfrm>
          <a:prstGeom prst="rect">
            <a:avLst/>
          </a:prstGeom>
          <a:noFill/>
        </p:spPr>
        <p:txBody>
          <a:bodyPr wrap="square" lIns="36576" rIns="36576" tIns="18288" bIns="18288" anchor="t">
            <a:spAutoFit/>
          </a:bodyPr>
          <a:lstStyle/>
          <a:p>
            <a:pPr algn="r"/>
            <a:r>
              <a:rPr sz="800" b="0">
                <a:solidFill>
                  <a:srgbClr val="475569"/>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698480" cy="475488"/>
          </a:xfrm>
          <a:prstGeom prst="rect">
            <a:avLst/>
          </a:prstGeom>
          <a:noFill/>
        </p:spPr>
        <p:txBody>
          <a:bodyPr wrap="square" lIns="36576" rIns="36576" tIns="18288" bIns="18288" anchor="t">
            <a:spAutoFit/>
          </a:bodyPr>
          <a:lstStyle/>
          <a:p>
            <a:pPr algn="l"/>
            <a:r>
              <a:rPr sz="2600" b="1">
                <a:solidFill>
                  <a:srgbClr val="10243E"/>
                </a:solidFill>
                <a:latin typeface="Arial"/>
              </a:rPr>
              <a:t>3. Research problem</a:t>
            </a:r>
          </a:p>
        </p:txBody>
      </p:sp>
      <p:sp>
        <p:nvSpPr>
          <p:cNvPr id="3" name="TextBox 2"/>
          <p:cNvSpPr txBox="1"/>
          <p:nvPr/>
        </p:nvSpPr>
        <p:spPr>
          <a:xfrm>
            <a:off x="594360" y="804672"/>
            <a:ext cx="10515600" cy="329184"/>
          </a:xfrm>
          <a:prstGeom prst="rect">
            <a:avLst/>
          </a:prstGeom>
          <a:noFill/>
        </p:spPr>
        <p:txBody>
          <a:bodyPr wrap="square" lIns="36576" rIns="36576" tIns="18288" bIns="18288" anchor="t">
            <a:spAutoFit/>
          </a:bodyPr>
          <a:lstStyle/>
          <a:p>
            <a:pPr algn="l"/>
            <a:r>
              <a:rPr sz="1220" b="0">
                <a:solidFill>
                  <a:srgbClr val="475569"/>
                </a:solidFill>
                <a:latin typeface="Arial"/>
              </a:rPr>
              <a:t>Bắt đầu từ khó khăn thực tế của FER in-the-wild, không từ thao tác kỹ thuật.</a:t>
            </a:r>
          </a:p>
        </p:txBody>
      </p:sp>
      <p:sp>
        <p:nvSpPr>
          <p:cNvPr id="4" name="Rectangle 3"/>
          <p:cNvSpPr/>
          <p:nvPr/>
        </p:nvSpPr>
        <p:spPr>
          <a:xfrm>
            <a:off x="594360" y="1115568"/>
            <a:ext cx="1234440" cy="36576"/>
          </a:xfrm>
          <a:prstGeom prst="rect">
            <a:avLst/>
          </a:prstGeom>
          <a:solidFill>
            <a:srgbClr val="0082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261872"/>
            <a:ext cx="10515600" cy="1554480"/>
          </a:xfrm>
          <a:prstGeom prst="rect">
            <a:avLst/>
          </a:prstGeom>
          <a:noFill/>
        </p:spPr>
        <p:txBody>
          <a:bodyPr wrap="square" lIns="36576" rIns="36576" tIns="18288" bIns="18288" anchor="t">
            <a:spAutoFit/>
          </a:bodyPr>
          <a:lstStyle/>
          <a:p>
            <a:pPr algn="ctr"/>
            <a:r>
              <a:rPr sz="2700" b="1">
                <a:solidFill>
                  <a:srgbClr val="10243E"/>
                </a:solidFill>
                <a:latin typeface="Arial"/>
              </a:rPr>
              <a:t>Xây dựng mô hình FER in-the-wild nhận diện ổn định hơn và có thể diễn giải khi tín hiệu biểu cảm bị che khuất, biến dạng bởi góc nhìn, nhiễu bởi domain shift và mơ hồ ở nhãn.</a:t>
            </a:r>
          </a:p>
        </p:txBody>
      </p:sp>
      <p:sp>
        <p:nvSpPr>
          <p:cNvPr id="6" name="Rounded Rectangle 5"/>
          <p:cNvSpPr/>
          <p:nvPr/>
        </p:nvSpPr>
        <p:spPr>
          <a:xfrm>
            <a:off x="914400" y="3063240"/>
            <a:ext cx="2971800" cy="1325880"/>
          </a:xfrm>
          <a:prstGeom prst="roundRect">
            <a:avLst/>
          </a:prstGeom>
          <a:solidFill>
            <a:srgbClr val="EAF2FF"/>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2416" y="3191256"/>
            <a:ext cx="2715768" cy="292608"/>
          </a:xfrm>
          <a:prstGeom prst="rect">
            <a:avLst/>
          </a:prstGeom>
          <a:noFill/>
        </p:spPr>
        <p:txBody>
          <a:bodyPr wrap="square" lIns="36576" rIns="36576" tIns="18288" bIns="18288" anchor="t">
            <a:spAutoFit/>
          </a:bodyPr>
          <a:lstStyle/>
          <a:p>
            <a:pPr algn="ctr"/>
            <a:r>
              <a:rPr sz="1300" b="1">
                <a:solidFill>
                  <a:srgbClr val="2563EB"/>
                </a:solidFill>
                <a:latin typeface="Arial"/>
              </a:rPr>
              <a:t>Điều kiện dữ liệu</a:t>
            </a:r>
          </a:p>
        </p:txBody>
      </p:sp>
      <p:sp>
        <p:nvSpPr>
          <p:cNvPr id="8" name="TextBox 7"/>
          <p:cNvSpPr txBox="1"/>
          <p:nvPr/>
        </p:nvSpPr>
        <p:spPr>
          <a:xfrm>
            <a:off x="1097280" y="3575304"/>
            <a:ext cx="2606040" cy="704087"/>
          </a:xfrm>
          <a:prstGeom prst="rect">
            <a:avLst/>
          </a:prstGeom>
          <a:noFill/>
        </p:spPr>
        <p:txBody>
          <a:bodyPr wrap="square" lIns="36576" rIns="36576" tIns="18288" bIns="18288" anchor="t">
            <a:spAutoFit/>
          </a:bodyPr>
          <a:lstStyle/>
          <a:p>
            <a:pPr algn="ctr"/>
            <a:r>
              <a:rPr sz="1050" b="0">
                <a:solidFill>
                  <a:srgbClr val="111827"/>
                </a:solidFill>
                <a:latin typeface="Arial"/>
              </a:rPr>
              <a:t>Ảnh mặt + emotion label; AU thật/pseudo-AU chỉ là tùy chọn.</a:t>
            </a:r>
          </a:p>
        </p:txBody>
      </p:sp>
      <p:sp>
        <p:nvSpPr>
          <p:cNvPr id="9" name="Rounded Rectangle 8"/>
          <p:cNvSpPr/>
          <p:nvPr/>
        </p:nvSpPr>
        <p:spPr>
          <a:xfrm>
            <a:off x="4617720" y="3063240"/>
            <a:ext cx="2971800" cy="1325880"/>
          </a:xfrm>
          <a:prstGeom prst="roundRect">
            <a:avLst/>
          </a:prstGeom>
          <a:solidFill>
            <a:srgbClr val="FFF7E6"/>
          </a:solidFill>
          <a:ln w="13970">
            <a:solidFill>
              <a:srgbClr val="C77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45736" y="3191256"/>
            <a:ext cx="2715768" cy="292608"/>
          </a:xfrm>
          <a:prstGeom prst="rect">
            <a:avLst/>
          </a:prstGeom>
          <a:noFill/>
        </p:spPr>
        <p:txBody>
          <a:bodyPr wrap="square" lIns="36576" rIns="36576" tIns="18288" bIns="18288" anchor="t">
            <a:spAutoFit/>
          </a:bodyPr>
          <a:lstStyle/>
          <a:p>
            <a:pPr algn="ctr"/>
            <a:r>
              <a:rPr sz="1300" b="1">
                <a:solidFill>
                  <a:srgbClr val="C77D00"/>
                </a:solidFill>
                <a:latin typeface="Arial"/>
              </a:rPr>
              <a:t>Thách thức</a:t>
            </a:r>
          </a:p>
        </p:txBody>
      </p:sp>
      <p:sp>
        <p:nvSpPr>
          <p:cNvPr id="11" name="TextBox 10"/>
          <p:cNvSpPr txBox="1"/>
          <p:nvPr/>
        </p:nvSpPr>
        <p:spPr>
          <a:xfrm>
            <a:off x="4800600" y="3575304"/>
            <a:ext cx="2606040" cy="704087"/>
          </a:xfrm>
          <a:prstGeom prst="rect">
            <a:avLst/>
          </a:prstGeom>
          <a:noFill/>
        </p:spPr>
        <p:txBody>
          <a:bodyPr wrap="square" lIns="36576" rIns="36576" tIns="18288" bIns="18288" anchor="t">
            <a:spAutoFit/>
          </a:bodyPr>
          <a:lstStyle/>
          <a:p>
            <a:pPr algn="ctr"/>
            <a:r>
              <a:rPr sz="1050" b="0">
                <a:solidFill>
                  <a:srgbClr val="111827"/>
                </a:solidFill>
                <a:latin typeface="Arial"/>
              </a:rPr>
              <a:t>Occlusion, pose shift, domain shift, label ambiguity.</a:t>
            </a:r>
          </a:p>
        </p:txBody>
      </p:sp>
      <p:sp>
        <p:nvSpPr>
          <p:cNvPr id="12" name="Rounded Rectangle 11"/>
          <p:cNvSpPr/>
          <p:nvPr/>
        </p:nvSpPr>
        <p:spPr>
          <a:xfrm>
            <a:off x="8321040" y="3063240"/>
            <a:ext cx="2971800" cy="1325880"/>
          </a:xfrm>
          <a:prstGeom prst="roundRect">
            <a:avLst/>
          </a:prstGeom>
          <a:solidFill>
            <a:srgbClr val="E8F7F4"/>
          </a:solidFill>
          <a:ln w="13970">
            <a:solidFill>
              <a:srgbClr val="0082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49056" y="3191256"/>
            <a:ext cx="2715768" cy="292608"/>
          </a:xfrm>
          <a:prstGeom prst="rect">
            <a:avLst/>
          </a:prstGeom>
          <a:noFill/>
        </p:spPr>
        <p:txBody>
          <a:bodyPr wrap="square" lIns="36576" rIns="36576" tIns="18288" bIns="18288" anchor="t">
            <a:spAutoFit/>
          </a:bodyPr>
          <a:lstStyle/>
          <a:p>
            <a:pPr algn="ctr"/>
            <a:r>
              <a:rPr sz="1300" b="1">
                <a:solidFill>
                  <a:srgbClr val="00827C"/>
                </a:solidFill>
                <a:latin typeface="Arial"/>
              </a:rPr>
              <a:t>Tiêu chí chứng minh</a:t>
            </a:r>
          </a:p>
        </p:txBody>
      </p:sp>
      <p:sp>
        <p:nvSpPr>
          <p:cNvPr id="14" name="TextBox 13"/>
          <p:cNvSpPr txBox="1"/>
          <p:nvPr/>
        </p:nvSpPr>
        <p:spPr>
          <a:xfrm>
            <a:off x="8503919" y="3575304"/>
            <a:ext cx="2606040" cy="704087"/>
          </a:xfrm>
          <a:prstGeom prst="rect">
            <a:avLst/>
          </a:prstGeom>
          <a:noFill/>
        </p:spPr>
        <p:txBody>
          <a:bodyPr wrap="square" lIns="36576" rIns="36576" tIns="18288" bIns="18288" anchor="t">
            <a:spAutoFit/>
          </a:bodyPr>
          <a:lstStyle/>
          <a:p>
            <a:pPr algn="ctr"/>
            <a:r>
              <a:rPr sz="1050" b="0">
                <a:solidFill>
                  <a:srgbClr val="111827"/>
                </a:solidFill>
                <a:latin typeface="Arial"/>
              </a:rPr>
              <a:t>Macro-F1, balanced accuracy, ablation, calibration, subset khó.</a:t>
            </a:r>
          </a:p>
        </p:txBody>
      </p:sp>
      <p:sp>
        <p:nvSpPr>
          <p:cNvPr id="15" name="TextBox 14"/>
          <p:cNvSpPr txBox="1"/>
          <p:nvPr/>
        </p:nvSpPr>
        <p:spPr>
          <a:xfrm>
            <a:off x="960120" y="5010912"/>
            <a:ext cx="10195560" cy="566928"/>
          </a:xfrm>
          <a:prstGeom prst="rect">
            <a:avLst/>
          </a:prstGeom>
          <a:noFill/>
        </p:spPr>
        <p:txBody>
          <a:bodyPr wrap="square" lIns="36576" rIns="36576" tIns="18288" bIns="18288" anchor="t">
            <a:spAutoFit/>
          </a:bodyPr>
          <a:lstStyle/>
          <a:p>
            <a:pPr algn="ctr"/>
            <a:r>
              <a:rPr sz="1600" b="1">
                <a:solidFill>
                  <a:srgbClr val="B42318"/>
                </a:solidFill>
                <a:latin typeface="Arial"/>
              </a:rPr>
              <a:t>Tự phản biện: 'chuyển ID-token sang descriptor' là design choice, không phải research problem; claim phải dựa trên subset khó và ablation.</a:t>
            </a:r>
          </a:p>
        </p:txBody>
      </p:sp>
      <p:sp>
        <p:nvSpPr>
          <p:cNvPr id="16" name="TextBox 15"/>
          <p:cNvSpPr txBox="1"/>
          <p:nvPr/>
        </p:nvSpPr>
        <p:spPr>
          <a:xfrm>
            <a:off x="576072" y="6473952"/>
            <a:ext cx="7772400" cy="182880"/>
          </a:xfrm>
          <a:prstGeom prst="rect">
            <a:avLst/>
          </a:prstGeom>
          <a:noFill/>
        </p:spPr>
        <p:txBody>
          <a:bodyPr wrap="square" lIns="36576" rIns="36576" tIns="18288" bIns="18288" anchor="t">
            <a:spAutoFit/>
          </a:bodyPr>
          <a:lstStyle/>
          <a:p>
            <a:pPr algn="l"/>
            <a:r>
              <a:rPr sz="750" b="0">
                <a:solidFill>
                  <a:srgbClr val="475569"/>
                </a:solidFill>
                <a:latin typeface="Arial"/>
              </a:rPr>
              <a:t>EmotionCLIP-ReID | Research gap &amp; proposal brief</a:t>
            </a:r>
          </a:p>
        </p:txBody>
      </p:sp>
      <p:sp>
        <p:nvSpPr>
          <p:cNvPr id="17" name="TextBox 16"/>
          <p:cNvSpPr txBox="1"/>
          <p:nvPr/>
        </p:nvSpPr>
        <p:spPr>
          <a:xfrm>
            <a:off x="11201400" y="6437376"/>
            <a:ext cx="502920" cy="201168"/>
          </a:xfrm>
          <a:prstGeom prst="rect">
            <a:avLst/>
          </a:prstGeom>
          <a:noFill/>
        </p:spPr>
        <p:txBody>
          <a:bodyPr wrap="square" lIns="36576" rIns="36576" tIns="18288" bIns="18288" anchor="t">
            <a:spAutoFit/>
          </a:bodyPr>
          <a:lstStyle/>
          <a:p>
            <a:pPr algn="r"/>
            <a:r>
              <a:rPr sz="800" b="0">
                <a:solidFill>
                  <a:srgbClr val="475569"/>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20040"/>
            <a:ext cx="10698480" cy="475488"/>
          </a:xfrm>
          <a:prstGeom prst="rect">
            <a:avLst/>
          </a:prstGeom>
          <a:noFill/>
        </p:spPr>
        <p:txBody>
          <a:bodyPr wrap="square" lIns="36576" rIns="36576" tIns="18288" bIns="18288" anchor="t">
            <a:spAutoFit/>
          </a:bodyPr>
          <a:lstStyle/>
          <a:p>
            <a:pPr algn="l"/>
            <a:r>
              <a:rPr sz="2600" b="1">
                <a:solidFill>
                  <a:srgbClr val="10243E"/>
                </a:solidFill>
                <a:latin typeface="Arial"/>
              </a:rPr>
              <a:t>4. Proposal hướng đi hiện tại</a:t>
            </a:r>
          </a:p>
        </p:txBody>
      </p:sp>
      <p:sp>
        <p:nvSpPr>
          <p:cNvPr id="3" name="TextBox 2"/>
          <p:cNvSpPr txBox="1"/>
          <p:nvPr/>
        </p:nvSpPr>
        <p:spPr>
          <a:xfrm>
            <a:off x="594360" y="804672"/>
            <a:ext cx="10515600" cy="329184"/>
          </a:xfrm>
          <a:prstGeom prst="rect">
            <a:avLst/>
          </a:prstGeom>
          <a:noFill/>
        </p:spPr>
        <p:txBody>
          <a:bodyPr wrap="square" lIns="36576" rIns="36576" tIns="18288" bIns="18288" anchor="t">
            <a:spAutoFit/>
          </a:bodyPr>
          <a:lstStyle/>
          <a:p>
            <a:pPr algn="l"/>
            <a:r>
              <a:rPr sz="1220" b="0">
                <a:solidFill>
                  <a:srgbClr val="475569"/>
                </a:solidFill>
                <a:latin typeface="Arial"/>
              </a:rPr>
              <a:t>Một pipeline hai giai đoạn, có lõi rõ và module nâng cao được ablation.</a:t>
            </a:r>
          </a:p>
        </p:txBody>
      </p:sp>
      <p:sp>
        <p:nvSpPr>
          <p:cNvPr id="4" name="Rectangle 3"/>
          <p:cNvSpPr/>
          <p:nvPr/>
        </p:nvSpPr>
        <p:spPr>
          <a:xfrm>
            <a:off x="594360" y="1115568"/>
            <a:ext cx="1234440" cy="36576"/>
          </a:xfrm>
          <a:prstGeom prst="rect">
            <a:avLst/>
          </a:prstGeom>
          <a:solidFill>
            <a:srgbClr val="0082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otionclip_current_proposal_pipeline.png"/>
          <p:cNvPicPr>
            <a:picLocks noChangeAspect="1"/>
          </p:cNvPicPr>
          <p:nvPr/>
        </p:nvPicPr>
        <p:blipFill>
          <a:blip r:embed="rId2"/>
          <a:stretch>
            <a:fillRect/>
          </a:stretch>
        </p:blipFill>
        <p:spPr>
          <a:xfrm>
            <a:off x="502920" y="1325880"/>
            <a:ext cx="11201400" cy="5498869"/>
          </a:xfrm>
          <a:prstGeom prst="rect">
            <a:avLst/>
          </a:prstGeom>
        </p:spPr>
      </p:pic>
      <p:sp>
        <p:nvSpPr>
          <p:cNvPr id="6" name="TextBox 5"/>
          <p:cNvSpPr txBox="1"/>
          <p:nvPr/>
        </p:nvSpPr>
        <p:spPr>
          <a:xfrm>
            <a:off x="576072" y="6473952"/>
            <a:ext cx="7772400" cy="182880"/>
          </a:xfrm>
          <a:prstGeom prst="rect">
            <a:avLst/>
          </a:prstGeom>
          <a:noFill/>
        </p:spPr>
        <p:txBody>
          <a:bodyPr wrap="square" lIns="36576" rIns="36576" tIns="18288" bIns="18288" anchor="t">
            <a:spAutoFit/>
          </a:bodyPr>
          <a:lstStyle/>
          <a:p>
            <a:pPr algn="l"/>
            <a:r>
              <a:rPr sz="750" b="0">
                <a:solidFill>
                  <a:srgbClr val="475569"/>
                </a:solidFill>
                <a:latin typeface="Arial"/>
              </a:rPr>
              <a:t>EmotionCLIP-ReID | Research gap &amp; proposal brief</a:t>
            </a:r>
          </a:p>
        </p:txBody>
      </p:sp>
      <p:sp>
        <p:nvSpPr>
          <p:cNvPr id="7" name="TextBox 6"/>
          <p:cNvSpPr txBox="1"/>
          <p:nvPr/>
        </p:nvSpPr>
        <p:spPr>
          <a:xfrm>
            <a:off x="11201400" y="6437376"/>
            <a:ext cx="502920" cy="201168"/>
          </a:xfrm>
          <a:prstGeom prst="rect">
            <a:avLst/>
          </a:prstGeom>
          <a:noFill/>
        </p:spPr>
        <p:txBody>
          <a:bodyPr wrap="square" lIns="36576" rIns="36576" tIns="18288" bIns="18288" anchor="t">
            <a:spAutoFit/>
          </a:bodyPr>
          <a:lstStyle/>
          <a:p>
            <a:pPr algn="r"/>
            <a:r>
              <a:rPr sz="800" b="0">
                <a:solidFill>
                  <a:srgbClr val="475569"/>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20040"/>
            <a:ext cx="10698480" cy="475488"/>
          </a:xfrm>
          <a:prstGeom prst="rect">
            <a:avLst/>
          </a:prstGeom>
          <a:noFill/>
        </p:spPr>
        <p:txBody>
          <a:bodyPr wrap="square" lIns="36576" rIns="36576" tIns="18288" bIns="18288" anchor="t">
            <a:spAutoFit/>
          </a:bodyPr>
          <a:lstStyle/>
          <a:p>
            <a:pPr algn="l"/>
            <a:r>
              <a:rPr sz="2600" b="1">
                <a:solidFill>
                  <a:srgbClr val="10243E"/>
                </a:solidFill>
                <a:latin typeface="Arial"/>
              </a:rPr>
              <a:t>5. Cấu trúc hai giai đoạn</a:t>
            </a:r>
          </a:p>
        </p:txBody>
      </p:sp>
      <p:sp>
        <p:nvSpPr>
          <p:cNvPr id="3" name="TextBox 2"/>
          <p:cNvSpPr txBox="1"/>
          <p:nvPr/>
        </p:nvSpPr>
        <p:spPr>
          <a:xfrm>
            <a:off x="594360" y="804672"/>
            <a:ext cx="10515600" cy="329184"/>
          </a:xfrm>
          <a:prstGeom prst="rect">
            <a:avLst/>
          </a:prstGeom>
          <a:noFill/>
        </p:spPr>
        <p:txBody>
          <a:bodyPr wrap="square" lIns="36576" rIns="36576" tIns="18288" bIns="18288" anchor="t">
            <a:spAutoFit/>
          </a:bodyPr>
          <a:lstStyle/>
          <a:p>
            <a:pPr algn="l"/>
            <a:r>
              <a:rPr sz="1220" b="0">
                <a:solidFill>
                  <a:srgbClr val="475569"/>
                </a:solidFill>
                <a:latin typeface="Arial"/>
              </a:rPr>
              <a:t>Kế thừa đúng phần mạnh nhất của CLIP-ReID, nhưng đổi đơn vị anchor.</a:t>
            </a:r>
          </a:p>
        </p:txBody>
      </p:sp>
      <p:sp>
        <p:nvSpPr>
          <p:cNvPr id="4" name="Rectangle 3"/>
          <p:cNvSpPr/>
          <p:nvPr/>
        </p:nvSpPr>
        <p:spPr>
          <a:xfrm>
            <a:off x="594360" y="1115568"/>
            <a:ext cx="1234440" cy="36576"/>
          </a:xfrm>
          <a:prstGeom prst="rect">
            <a:avLst/>
          </a:prstGeom>
          <a:solidFill>
            <a:srgbClr val="0082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17320"/>
            <a:ext cx="4800600" cy="2971800"/>
          </a:xfrm>
          <a:prstGeom prst="roundRect">
            <a:avLst/>
          </a:prstGeom>
          <a:solidFill>
            <a:srgbClr val="EAF2FF"/>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1545336"/>
            <a:ext cx="4544568" cy="292608"/>
          </a:xfrm>
          <a:prstGeom prst="rect">
            <a:avLst/>
          </a:prstGeom>
          <a:noFill/>
        </p:spPr>
        <p:txBody>
          <a:bodyPr wrap="square" lIns="36576" rIns="36576" tIns="18288" bIns="18288" anchor="t">
            <a:spAutoFit/>
          </a:bodyPr>
          <a:lstStyle/>
          <a:p>
            <a:pPr algn="ctr"/>
            <a:r>
              <a:rPr sz="1300" b="1">
                <a:solidFill>
                  <a:srgbClr val="2563EB"/>
                </a:solidFill>
                <a:latin typeface="Arial"/>
              </a:rPr>
              <a:t>Stage 1: học descriptor cảm xúc</a:t>
            </a:r>
          </a:p>
        </p:txBody>
      </p:sp>
      <p:sp>
        <p:nvSpPr>
          <p:cNvPr id="7" name="TextBox 6"/>
          <p:cNvSpPr txBox="1"/>
          <p:nvPr/>
        </p:nvSpPr>
        <p:spPr>
          <a:xfrm>
            <a:off x="1051560" y="1929384"/>
            <a:ext cx="4434840" cy="2350008"/>
          </a:xfrm>
          <a:prstGeom prst="rect">
            <a:avLst/>
          </a:prstGeom>
          <a:noFill/>
        </p:spPr>
        <p:txBody>
          <a:bodyPr wrap="square" lIns="36576" rIns="36576" tIns="18288" bIns="18288" anchor="t">
            <a:spAutoFit/>
          </a:bodyPr>
          <a:lstStyle/>
          <a:p>
            <a:pPr algn="ctr"/>
            <a:r>
              <a:rPr sz="1050" b="0">
                <a:solidFill>
                  <a:srgbClr val="111827"/>
                </a:solidFill>
                <a:latin typeface="Arial"/>
              </a:rPr>
              <a:t>Freeze CLIP image/text encoder.
Tối ưu prompt tokens theo emotion/AU.
Đầu ra: z_t có nghĩa ngữ nghĩa và phân biệt được cảm xúc.</a:t>
            </a:r>
          </a:p>
        </p:txBody>
      </p:sp>
      <p:sp>
        <p:nvSpPr>
          <p:cNvPr id="8" name="Right Arrow 7"/>
          <p:cNvSpPr/>
          <p:nvPr/>
        </p:nvSpPr>
        <p:spPr>
          <a:xfrm>
            <a:off x="5742432" y="2514600"/>
            <a:ext cx="713232" cy="502920"/>
          </a:xfrm>
          <a:prstGeom prst="rightArrow">
            <a:avLst/>
          </a:prstGeom>
          <a:solidFill>
            <a:srgbClr val="0082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32120" y="3063240"/>
            <a:ext cx="1234440" cy="274320"/>
          </a:xfrm>
          <a:prstGeom prst="rect">
            <a:avLst/>
          </a:prstGeom>
          <a:noFill/>
        </p:spPr>
        <p:txBody>
          <a:bodyPr wrap="square" lIns="36576" rIns="36576" tIns="18288" bIns="18288" anchor="t">
            <a:spAutoFit/>
          </a:bodyPr>
          <a:lstStyle/>
          <a:p>
            <a:pPr algn="ctr"/>
            <a:r>
              <a:rPr sz="1300" b="1">
                <a:solidFill>
                  <a:srgbClr val="006B66"/>
                </a:solidFill>
                <a:latin typeface="Arial"/>
              </a:rPr>
              <a:t>fixed z_t</a:t>
            </a:r>
          </a:p>
        </p:txBody>
      </p:sp>
      <p:sp>
        <p:nvSpPr>
          <p:cNvPr id="10" name="Rounded Rectangle 9"/>
          <p:cNvSpPr/>
          <p:nvPr/>
        </p:nvSpPr>
        <p:spPr>
          <a:xfrm>
            <a:off x="6537960" y="1417320"/>
            <a:ext cx="4800600" cy="2971800"/>
          </a:xfrm>
          <a:prstGeom prst="roundRect">
            <a:avLst/>
          </a:prstGeom>
          <a:solidFill>
            <a:srgbClr val="E8F7F4"/>
          </a:solidFill>
          <a:ln w="13970">
            <a:solidFill>
              <a:srgbClr val="0082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65976" y="1545336"/>
            <a:ext cx="4544568" cy="292608"/>
          </a:xfrm>
          <a:prstGeom prst="rect">
            <a:avLst/>
          </a:prstGeom>
          <a:noFill/>
        </p:spPr>
        <p:txBody>
          <a:bodyPr wrap="square" lIns="36576" rIns="36576" tIns="18288" bIns="18288" anchor="t">
            <a:spAutoFit/>
          </a:bodyPr>
          <a:lstStyle/>
          <a:p>
            <a:pPr algn="ctr"/>
            <a:r>
              <a:rPr sz="1300" b="1">
                <a:solidFill>
                  <a:srgbClr val="00827C"/>
                </a:solidFill>
                <a:latin typeface="Arial"/>
              </a:rPr>
              <a:t>Stage 2: fine-tune visual branch</a:t>
            </a:r>
          </a:p>
        </p:txBody>
      </p:sp>
      <p:sp>
        <p:nvSpPr>
          <p:cNvPr id="12" name="TextBox 11"/>
          <p:cNvSpPr txBox="1"/>
          <p:nvPr/>
        </p:nvSpPr>
        <p:spPr>
          <a:xfrm>
            <a:off x="6720840" y="1929384"/>
            <a:ext cx="4434840" cy="2350008"/>
          </a:xfrm>
          <a:prstGeom prst="rect">
            <a:avLst/>
          </a:prstGeom>
          <a:noFill/>
        </p:spPr>
        <p:txBody>
          <a:bodyPr wrap="square" lIns="36576" rIns="36576" tIns="18288" bIns="18288" anchor="t">
            <a:spAutoFit/>
          </a:bodyPr>
          <a:lstStyle/>
          <a:p>
            <a:pPr algn="ctr"/>
            <a:r>
              <a:rPr sz="1050" b="0">
                <a:solidFill>
                  <a:srgbClr val="111827"/>
                </a:solidFill>
                <a:latin typeface="Arial"/>
              </a:rPr>
              <a:t>Freeze descriptors.
Train adapter/head bằng L_cls + beta L_i2t.
Chỉ bật L_unc khi baseline semantic alignment đã ổn.</a:t>
            </a:r>
          </a:p>
        </p:txBody>
      </p:sp>
      <p:sp>
        <p:nvSpPr>
          <p:cNvPr id="13" name="Rounded Rectangle 12"/>
          <p:cNvSpPr/>
          <p:nvPr/>
        </p:nvSpPr>
        <p:spPr>
          <a:xfrm>
            <a:off x="1143000" y="4617720"/>
            <a:ext cx="4389120" cy="914400"/>
          </a:xfrm>
          <a:prstGeom prst="roundRect">
            <a:avLst/>
          </a:prstGeom>
          <a:solidFill>
            <a:srgbClr val="F8FAFC"/>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71016" y="4745736"/>
            <a:ext cx="4133087" cy="292608"/>
          </a:xfrm>
          <a:prstGeom prst="rect">
            <a:avLst/>
          </a:prstGeom>
          <a:noFill/>
        </p:spPr>
        <p:txBody>
          <a:bodyPr wrap="square" lIns="36576" rIns="36576" tIns="18288" bIns="18288" anchor="t">
            <a:spAutoFit/>
          </a:bodyPr>
          <a:lstStyle/>
          <a:p>
            <a:pPr algn="ctr"/>
            <a:r>
              <a:rPr sz="1300" b="1">
                <a:solidFill>
                  <a:srgbClr val="10243E"/>
                </a:solidFill>
                <a:latin typeface="Arial"/>
              </a:rPr>
              <a:t>Không còn là ID-token</a:t>
            </a:r>
          </a:p>
        </p:txBody>
      </p:sp>
      <p:sp>
        <p:nvSpPr>
          <p:cNvPr id="15" name="TextBox 14"/>
          <p:cNvSpPr txBox="1"/>
          <p:nvPr/>
        </p:nvSpPr>
        <p:spPr>
          <a:xfrm>
            <a:off x="1325880" y="5129783"/>
            <a:ext cx="4023359" cy="292607"/>
          </a:xfrm>
          <a:prstGeom prst="rect">
            <a:avLst/>
          </a:prstGeom>
          <a:noFill/>
        </p:spPr>
        <p:txBody>
          <a:bodyPr wrap="square" lIns="36576" rIns="36576" tIns="18288" bIns="18288" anchor="t">
            <a:spAutoFit/>
          </a:bodyPr>
          <a:lstStyle/>
          <a:p>
            <a:pPr algn="ctr"/>
            <a:r>
              <a:rPr sz="1050" b="0">
                <a:solidFill>
                  <a:srgbClr val="111827"/>
                </a:solidFill>
                <a:latin typeface="Arial"/>
              </a:rPr>
              <a:t>Anchor không phục vụ định danh, mà phục vụ biểu cảm.</a:t>
            </a:r>
          </a:p>
        </p:txBody>
      </p:sp>
      <p:sp>
        <p:nvSpPr>
          <p:cNvPr id="16" name="Rounded Rectangle 15"/>
          <p:cNvSpPr/>
          <p:nvPr/>
        </p:nvSpPr>
        <p:spPr>
          <a:xfrm>
            <a:off x="6675120" y="4617720"/>
            <a:ext cx="4389120" cy="914400"/>
          </a:xfrm>
          <a:prstGeom prst="roundRect">
            <a:avLst/>
          </a:prstGeom>
          <a:solidFill>
            <a:srgbClr val="F8FAFC"/>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4745736"/>
            <a:ext cx="4133087" cy="292608"/>
          </a:xfrm>
          <a:prstGeom prst="rect">
            <a:avLst/>
          </a:prstGeom>
          <a:noFill/>
        </p:spPr>
        <p:txBody>
          <a:bodyPr wrap="square" lIns="36576" rIns="36576" tIns="18288" bIns="18288" anchor="t">
            <a:spAutoFit/>
          </a:bodyPr>
          <a:lstStyle/>
          <a:p>
            <a:pPr algn="ctr"/>
            <a:r>
              <a:rPr sz="1300" b="1">
                <a:solidFill>
                  <a:srgbClr val="10243E"/>
                </a:solidFill>
                <a:latin typeface="Arial"/>
              </a:rPr>
              <a:t>Đánh giá theo FER</a:t>
            </a:r>
          </a:p>
        </p:txBody>
      </p:sp>
      <p:sp>
        <p:nvSpPr>
          <p:cNvPr id="18" name="TextBox 17"/>
          <p:cNvSpPr txBox="1"/>
          <p:nvPr/>
        </p:nvSpPr>
        <p:spPr>
          <a:xfrm>
            <a:off x="6858000" y="5129783"/>
            <a:ext cx="4023359" cy="292607"/>
          </a:xfrm>
          <a:prstGeom prst="rect">
            <a:avLst/>
          </a:prstGeom>
          <a:noFill/>
        </p:spPr>
        <p:txBody>
          <a:bodyPr wrap="square" lIns="36576" rIns="36576" tIns="18288" bIns="18288" anchor="t">
            <a:spAutoFit/>
          </a:bodyPr>
          <a:lstStyle/>
          <a:p>
            <a:pPr algn="ctr"/>
            <a:r>
              <a:rPr sz="1050" b="0">
                <a:solidFill>
                  <a:srgbClr val="111827"/>
                </a:solidFill>
                <a:latin typeface="Arial"/>
              </a:rPr>
              <a:t>Macro-F1, balanced accuracy, subset khó, descriptor ablation.</a:t>
            </a:r>
          </a:p>
        </p:txBody>
      </p:sp>
      <p:sp>
        <p:nvSpPr>
          <p:cNvPr id="19" name="TextBox 18"/>
          <p:cNvSpPr txBox="1"/>
          <p:nvPr/>
        </p:nvSpPr>
        <p:spPr>
          <a:xfrm>
            <a:off x="914400" y="5806440"/>
            <a:ext cx="10332720" cy="329184"/>
          </a:xfrm>
          <a:prstGeom prst="rect">
            <a:avLst/>
          </a:prstGeom>
          <a:noFill/>
        </p:spPr>
        <p:txBody>
          <a:bodyPr wrap="square" lIns="36576" rIns="36576" tIns="18288" bIns="18288" anchor="t">
            <a:spAutoFit/>
          </a:bodyPr>
          <a:lstStyle/>
          <a:p>
            <a:pPr algn="ctr"/>
            <a:r>
              <a:rPr sz="1700" b="1">
                <a:solidFill>
                  <a:srgbClr val="006B66"/>
                </a:solidFill>
                <a:latin typeface="Arial"/>
              </a:rPr>
              <a:t>Vai trò trong proposal: ID-specific text token -&gt; emotion/AU semantic descriptor.</a:t>
            </a:r>
          </a:p>
        </p:txBody>
      </p:sp>
      <p:sp>
        <p:nvSpPr>
          <p:cNvPr id="20" name="TextBox 19"/>
          <p:cNvSpPr txBox="1"/>
          <p:nvPr/>
        </p:nvSpPr>
        <p:spPr>
          <a:xfrm>
            <a:off x="576072" y="6473952"/>
            <a:ext cx="7772400" cy="182880"/>
          </a:xfrm>
          <a:prstGeom prst="rect">
            <a:avLst/>
          </a:prstGeom>
          <a:noFill/>
        </p:spPr>
        <p:txBody>
          <a:bodyPr wrap="square" lIns="36576" rIns="36576" tIns="18288" bIns="18288" anchor="t">
            <a:spAutoFit/>
          </a:bodyPr>
          <a:lstStyle/>
          <a:p>
            <a:pPr algn="l"/>
            <a:r>
              <a:rPr sz="750" b="0">
                <a:solidFill>
                  <a:srgbClr val="475569"/>
                </a:solidFill>
                <a:latin typeface="Arial"/>
              </a:rPr>
              <a:t>EmotionCLIP-ReID | Research gap &amp; proposal brief</a:t>
            </a:r>
          </a:p>
        </p:txBody>
      </p:sp>
      <p:sp>
        <p:nvSpPr>
          <p:cNvPr id="21" name="TextBox 20"/>
          <p:cNvSpPr txBox="1"/>
          <p:nvPr/>
        </p:nvSpPr>
        <p:spPr>
          <a:xfrm>
            <a:off x="11201400" y="6437376"/>
            <a:ext cx="502920" cy="201168"/>
          </a:xfrm>
          <a:prstGeom prst="rect">
            <a:avLst/>
          </a:prstGeom>
          <a:noFill/>
        </p:spPr>
        <p:txBody>
          <a:bodyPr wrap="square" lIns="36576" rIns="36576" tIns="18288" bIns="18288" anchor="t">
            <a:spAutoFit/>
          </a:bodyPr>
          <a:lstStyle/>
          <a:p>
            <a:pPr algn="r"/>
            <a:r>
              <a:rPr sz="800" b="0">
                <a:solidFill>
                  <a:srgbClr val="475569"/>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20040"/>
            <a:ext cx="10698480" cy="475488"/>
          </a:xfrm>
          <a:prstGeom prst="rect">
            <a:avLst/>
          </a:prstGeom>
          <a:noFill/>
        </p:spPr>
        <p:txBody>
          <a:bodyPr wrap="square" lIns="36576" rIns="36576" tIns="18288" bIns="18288" anchor="t">
            <a:spAutoFit/>
          </a:bodyPr>
          <a:lstStyle/>
          <a:p>
            <a:pPr algn="l"/>
            <a:r>
              <a:rPr sz="2600" b="1">
                <a:solidFill>
                  <a:srgbClr val="10243E"/>
                </a:solidFill>
                <a:latin typeface="Arial"/>
              </a:rPr>
              <a:t>6. Đóng góp và phạm vi</a:t>
            </a:r>
          </a:p>
        </p:txBody>
      </p:sp>
      <p:sp>
        <p:nvSpPr>
          <p:cNvPr id="3" name="TextBox 2"/>
          <p:cNvSpPr txBox="1"/>
          <p:nvPr/>
        </p:nvSpPr>
        <p:spPr>
          <a:xfrm>
            <a:off x="594360" y="804672"/>
            <a:ext cx="10515600" cy="329184"/>
          </a:xfrm>
          <a:prstGeom prst="rect">
            <a:avLst/>
          </a:prstGeom>
          <a:noFill/>
        </p:spPr>
        <p:txBody>
          <a:bodyPr wrap="square" lIns="36576" rIns="36576" tIns="18288" bIns="18288" anchor="t">
            <a:spAutoFit/>
          </a:bodyPr>
          <a:lstStyle/>
          <a:p>
            <a:pPr algn="l"/>
            <a:r>
              <a:rPr sz="1220" b="0">
                <a:solidFill>
                  <a:srgbClr val="475569"/>
                </a:solidFill>
                <a:latin typeface="Arial"/>
              </a:rPr>
              <a:t>Nói rõ cái gì là lõi, cái gì là ablation, cái gì chưa nên claim.</a:t>
            </a:r>
          </a:p>
        </p:txBody>
      </p:sp>
      <p:sp>
        <p:nvSpPr>
          <p:cNvPr id="4" name="Rectangle 3"/>
          <p:cNvSpPr/>
          <p:nvPr/>
        </p:nvSpPr>
        <p:spPr>
          <a:xfrm>
            <a:off x="594360" y="1115568"/>
            <a:ext cx="1234440" cy="36576"/>
          </a:xfrm>
          <a:prstGeom prst="rect">
            <a:avLst/>
          </a:prstGeom>
          <a:solidFill>
            <a:srgbClr val="0082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828800"/>
            <a:ext cx="3337560" cy="1783080"/>
          </a:xfrm>
          <a:prstGeom prst="roundRect">
            <a:avLst/>
          </a:prstGeom>
          <a:solidFill>
            <a:srgbClr val="E8F7F4"/>
          </a:solidFill>
          <a:ln w="13970">
            <a:solidFill>
              <a:srgbClr val="0082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1956816"/>
            <a:ext cx="3081528" cy="292608"/>
          </a:xfrm>
          <a:prstGeom prst="rect">
            <a:avLst/>
          </a:prstGeom>
          <a:noFill/>
        </p:spPr>
        <p:txBody>
          <a:bodyPr wrap="square" lIns="36576" rIns="36576" tIns="18288" bIns="18288" anchor="t">
            <a:spAutoFit/>
          </a:bodyPr>
          <a:lstStyle/>
          <a:p>
            <a:pPr algn="ctr"/>
            <a:r>
              <a:rPr sz="1300" b="1">
                <a:solidFill>
                  <a:srgbClr val="00827C"/>
                </a:solidFill>
                <a:latin typeface="Arial"/>
              </a:rPr>
              <a:t>Lõi cần bảo vệ</a:t>
            </a:r>
          </a:p>
        </p:txBody>
      </p:sp>
      <p:sp>
        <p:nvSpPr>
          <p:cNvPr id="7" name="TextBox 6"/>
          <p:cNvSpPr txBox="1"/>
          <p:nvPr/>
        </p:nvSpPr>
        <p:spPr>
          <a:xfrm>
            <a:off x="1005840" y="2340864"/>
            <a:ext cx="2971800" cy="1161288"/>
          </a:xfrm>
          <a:prstGeom prst="rect">
            <a:avLst/>
          </a:prstGeom>
          <a:noFill/>
        </p:spPr>
        <p:txBody>
          <a:bodyPr wrap="square" lIns="36576" rIns="36576" tIns="18288" bIns="18288" anchor="t">
            <a:spAutoFit/>
          </a:bodyPr>
          <a:lstStyle/>
          <a:p>
            <a:pPr algn="ctr"/>
            <a:r>
              <a:rPr sz="1050" b="0">
                <a:solidFill>
                  <a:srgbClr val="111827"/>
                </a:solidFill>
                <a:latin typeface="Arial"/>
              </a:rPr>
              <a:t>Stage 1/Stage 2
Emotion descriptor learning
Fixed semantic anchors
Image-text alignment</a:t>
            </a:r>
          </a:p>
        </p:txBody>
      </p:sp>
      <p:sp>
        <p:nvSpPr>
          <p:cNvPr id="8" name="Rounded Rectangle 7"/>
          <p:cNvSpPr/>
          <p:nvPr/>
        </p:nvSpPr>
        <p:spPr>
          <a:xfrm>
            <a:off x="4434840" y="1828800"/>
            <a:ext cx="3337560" cy="1783080"/>
          </a:xfrm>
          <a:prstGeom prst="roundRect">
            <a:avLst/>
          </a:prstGeom>
          <a:solidFill>
            <a:srgbClr val="EAF2FF"/>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62855" y="1956816"/>
            <a:ext cx="3081528" cy="292608"/>
          </a:xfrm>
          <a:prstGeom prst="rect">
            <a:avLst/>
          </a:prstGeom>
          <a:noFill/>
        </p:spPr>
        <p:txBody>
          <a:bodyPr wrap="square" lIns="36576" rIns="36576" tIns="18288" bIns="18288" anchor="t">
            <a:spAutoFit/>
          </a:bodyPr>
          <a:lstStyle/>
          <a:p>
            <a:pPr algn="ctr"/>
            <a:r>
              <a:rPr sz="1300" b="1">
                <a:solidFill>
                  <a:srgbClr val="2563EB"/>
                </a:solidFill>
                <a:latin typeface="Arial"/>
              </a:rPr>
              <a:t>Ablation sau v1</a:t>
            </a:r>
          </a:p>
        </p:txBody>
      </p:sp>
      <p:sp>
        <p:nvSpPr>
          <p:cNvPr id="10" name="TextBox 9"/>
          <p:cNvSpPr txBox="1"/>
          <p:nvPr/>
        </p:nvSpPr>
        <p:spPr>
          <a:xfrm>
            <a:off x="4617720" y="2340864"/>
            <a:ext cx="2971800" cy="1161288"/>
          </a:xfrm>
          <a:prstGeom prst="rect">
            <a:avLst/>
          </a:prstGeom>
          <a:noFill/>
        </p:spPr>
        <p:txBody>
          <a:bodyPr wrap="square" lIns="36576" rIns="36576" tIns="18288" bIns="18288" anchor="t">
            <a:spAutoFit/>
          </a:bodyPr>
          <a:lstStyle/>
          <a:p>
            <a:pPr algn="ctr"/>
            <a:r>
              <a:rPr sz="1050" b="0">
                <a:solidFill>
                  <a:srgbClr val="111827"/>
                </a:solidFill>
                <a:latin typeface="Arial"/>
              </a:rPr>
              <a:t>AU/pseudo-AU prompt
Expression-aware adapter
Local alignment
Uncertainty/EDL</a:t>
            </a:r>
          </a:p>
        </p:txBody>
      </p:sp>
      <p:sp>
        <p:nvSpPr>
          <p:cNvPr id="11" name="Rounded Rectangle 10"/>
          <p:cNvSpPr/>
          <p:nvPr/>
        </p:nvSpPr>
        <p:spPr>
          <a:xfrm>
            <a:off x="8046720" y="1828800"/>
            <a:ext cx="3337560" cy="1783080"/>
          </a:xfrm>
          <a:prstGeom prst="roundRect">
            <a:avLst/>
          </a:prstGeom>
          <a:solidFill>
            <a:srgbClr val="FFF1F2"/>
          </a:solidFill>
          <a:ln w="13970">
            <a:solidFill>
              <a:srgbClr val="B423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956816"/>
            <a:ext cx="3081528" cy="292608"/>
          </a:xfrm>
          <a:prstGeom prst="rect">
            <a:avLst/>
          </a:prstGeom>
          <a:noFill/>
        </p:spPr>
        <p:txBody>
          <a:bodyPr wrap="square" lIns="36576" rIns="36576" tIns="18288" bIns="18288" anchor="t">
            <a:spAutoFit/>
          </a:bodyPr>
          <a:lstStyle/>
          <a:p>
            <a:pPr algn="ctr"/>
            <a:r>
              <a:rPr sz="1300" b="1">
                <a:solidFill>
                  <a:srgbClr val="B42318"/>
                </a:solidFill>
                <a:latin typeface="Arial"/>
              </a:rPr>
              <a:t>Chưa claim sớm</a:t>
            </a:r>
          </a:p>
        </p:txBody>
      </p:sp>
      <p:sp>
        <p:nvSpPr>
          <p:cNvPr id="13" name="TextBox 12"/>
          <p:cNvSpPr txBox="1"/>
          <p:nvPr/>
        </p:nvSpPr>
        <p:spPr>
          <a:xfrm>
            <a:off x="8229600" y="2340864"/>
            <a:ext cx="2971800" cy="1161288"/>
          </a:xfrm>
          <a:prstGeom prst="rect">
            <a:avLst/>
          </a:prstGeom>
          <a:noFill/>
        </p:spPr>
        <p:txBody>
          <a:bodyPr wrap="square" lIns="36576" rIns="36576" tIns="18288" bIns="18288" anchor="t">
            <a:spAutoFit/>
          </a:bodyPr>
          <a:lstStyle/>
          <a:p>
            <a:pPr algn="ctr"/>
            <a:r>
              <a:rPr sz="1050" b="0">
                <a:solidFill>
                  <a:srgbClr val="111827"/>
                </a:solidFill>
                <a:latin typeface="Arial"/>
              </a:rPr>
              <a:t>Full SOTA
Full MER/EA/UA reproduction
Multimodal MER
AU detection SOTA</a:t>
            </a:r>
          </a:p>
        </p:txBody>
      </p:sp>
      <p:sp>
        <p:nvSpPr>
          <p:cNvPr id="14" name="TextBox 13"/>
          <p:cNvSpPr txBox="1"/>
          <p:nvPr/>
        </p:nvSpPr>
        <p:spPr>
          <a:xfrm>
            <a:off x="1051560" y="4709160"/>
            <a:ext cx="10058400" cy="411480"/>
          </a:xfrm>
          <a:prstGeom prst="rect">
            <a:avLst/>
          </a:prstGeom>
          <a:noFill/>
        </p:spPr>
        <p:txBody>
          <a:bodyPr wrap="square" lIns="36576" rIns="36576" tIns="18288" bIns="18288" anchor="t">
            <a:spAutoFit/>
          </a:bodyPr>
          <a:lstStyle/>
          <a:p>
            <a:pPr algn="ctr"/>
            <a:r>
              <a:rPr sz="2000" b="1">
                <a:solidFill>
                  <a:srgbClr val="10243E"/>
                </a:solidFill>
                <a:latin typeface="Arial"/>
              </a:rPr>
              <a:t>Thông điệp: proposal có kiểm soát, không ghép cơ học nhiều paper.</a:t>
            </a:r>
          </a:p>
        </p:txBody>
      </p:sp>
      <p:sp>
        <p:nvSpPr>
          <p:cNvPr id="15" name="TextBox 14"/>
          <p:cNvSpPr txBox="1"/>
          <p:nvPr/>
        </p:nvSpPr>
        <p:spPr>
          <a:xfrm>
            <a:off x="576072" y="6473952"/>
            <a:ext cx="7772400" cy="182880"/>
          </a:xfrm>
          <a:prstGeom prst="rect">
            <a:avLst/>
          </a:prstGeom>
          <a:noFill/>
        </p:spPr>
        <p:txBody>
          <a:bodyPr wrap="square" lIns="36576" rIns="36576" tIns="18288" bIns="18288" anchor="t">
            <a:spAutoFit/>
          </a:bodyPr>
          <a:lstStyle/>
          <a:p>
            <a:pPr algn="l"/>
            <a:r>
              <a:rPr sz="750" b="0">
                <a:solidFill>
                  <a:srgbClr val="475569"/>
                </a:solidFill>
                <a:latin typeface="Arial"/>
              </a:rPr>
              <a:t>EmotionCLIP-ReID | Research gap &amp; proposal brief</a:t>
            </a:r>
          </a:p>
        </p:txBody>
      </p:sp>
      <p:sp>
        <p:nvSpPr>
          <p:cNvPr id="16" name="TextBox 15"/>
          <p:cNvSpPr txBox="1"/>
          <p:nvPr/>
        </p:nvSpPr>
        <p:spPr>
          <a:xfrm>
            <a:off x="11201400" y="6437376"/>
            <a:ext cx="502920" cy="201168"/>
          </a:xfrm>
          <a:prstGeom prst="rect">
            <a:avLst/>
          </a:prstGeom>
          <a:noFill/>
        </p:spPr>
        <p:txBody>
          <a:bodyPr wrap="square" lIns="36576" rIns="36576" tIns="18288" bIns="18288" anchor="t">
            <a:spAutoFit/>
          </a:bodyPr>
          <a:lstStyle/>
          <a:p>
            <a:pPr algn="r"/>
            <a:r>
              <a:rPr sz="800" b="0">
                <a:solidFill>
                  <a:srgbClr val="475569"/>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20040"/>
            <a:ext cx="10698480" cy="475488"/>
          </a:xfrm>
          <a:prstGeom prst="rect">
            <a:avLst/>
          </a:prstGeom>
          <a:noFill/>
        </p:spPr>
        <p:txBody>
          <a:bodyPr wrap="square" lIns="36576" rIns="36576" tIns="18288" bIns="18288" anchor="t">
            <a:spAutoFit/>
          </a:bodyPr>
          <a:lstStyle/>
          <a:p>
            <a:pPr algn="l"/>
            <a:r>
              <a:rPr sz="2600" b="1">
                <a:solidFill>
                  <a:srgbClr val="10243E"/>
                </a:solidFill>
                <a:latin typeface="Arial"/>
              </a:rPr>
              <a:t>7. Kế hoạch thí nghiệm</a:t>
            </a:r>
          </a:p>
        </p:txBody>
      </p:sp>
      <p:sp>
        <p:nvSpPr>
          <p:cNvPr id="3" name="TextBox 2"/>
          <p:cNvSpPr txBox="1"/>
          <p:nvPr/>
        </p:nvSpPr>
        <p:spPr>
          <a:xfrm>
            <a:off x="594360" y="804672"/>
            <a:ext cx="10515600" cy="329184"/>
          </a:xfrm>
          <a:prstGeom prst="rect">
            <a:avLst/>
          </a:prstGeom>
          <a:noFill/>
        </p:spPr>
        <p:txBody>
          <a:bodyPr wrap="square" lIns="36576" rIns="36576" tIns="18288" bIns="18288" anchor="t">
            <a:spAutoFit/>
          </a:bodyPr>
          <a:lstStyle/>
          <a:p>
            <a:pPr algn="l"/>
            <a:r>
              <a:rPr sz="1220" b="0">
                <a:solidFill>
                  <a:srgbClr val="475569"/>
                </a:solidFill>
                <a:latin typeface="Arial"/>
              </a:rPr>
              <a:t>Chứng minh từng đóng góp thay vì đưa mọi module vào cùng lúc.</a:t>
            </a:r>
          </a:p>
        </p:txBody>
      </p:sp>
      <p:sp>
        <p:nvSpPr>
          <p:cNvPr id="4" name="Rectangle 3"/>
          <p:cNvSpPr/>
          <p:nvPr/>
        </p:nvSpPr>
        <p:spPr>
          <a:xfrm>
            <a:off x="594360" y="1115568"/>
            <a:ext cx="1234440" cy="36576"/>
          </a:xfrm>
          <a:prstGeom prst="rect">
            <a:avLst/>
          </a:prstGeom>
          <a:solidFill>
            <a:srgbClr val="0082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xperiment_roadmap.png"/>
          <p:cNvPicPr>
            <a:picLocks noChangeAspect="1"/>
          </p:cNvPicPr>
          <p:nvPr/>
        </p:nvPicPr>
        <p:blipFill>
          <a:blip r:embed="rId2"/>
          <a:stretch>
            <a:fillRect/>
          </a:stretch>
        </p:blipFill>
        <p:spPr>
          <a:xfrm>
            <a:off x="502920" y="1508760"/>
            <a:ext cx="11201400" cy="3869575"/>
          </a:xfrm>
          <a:prstGeom prst="rect">
            <a:avLst/>
          </a:prstGeom>
        </p:spPr>
      </p:pic>
      <p:sp>
        <p:nvSpPr>
          <p:cNvPr id="6" name="TextBox 5"/>
          <p:cNvSpPr txBox="1"/>
          <p:nvPr/>
        </p:nvSpPr>
        <p:spPr>
          <a:xfrm>
            <a:off x="576072" y="6473952"/>
            <a:ext cx="7772400" cy="182880"/>
          </a:xfrm>
          <a:prstGeom prst="rect">
            <a:avLst/>
          </a:prstGeom>
          <a:noFill/>
        </p:spPr>
        <p:txBody>
          <a:bodyPr wrap="square" lIns="36576" rIns="36576" tIns="18288" bIns="18288" anchor="t">
            <a:spAutoFit/>
          </a:bodyPr>
          <a:lstStyle/>
          <a:p>
            <a:pPr algn="l"/>
            <a:r>
              <a:rPr sz="750" b="0">
                <a:solidFill>
                  <a:srgbClr val="475569"/>
                </a:solidFill>
                <a:latin typeface="Arial"/>
              </a:rPr>
              <a:t>EmotionCLIP-ReID | Research gap &amp; proposal brief</a:t>
            </a:r>
          </a:p>
        </p:txBody>
      </p:sp>
      <p:sp>
        <p:nvSpPr>
          <p:cNvPr id="7" name="TextBox 6"/>
          <p:cNvSpPr txBox="1"/>
          <p:nvPr/>
        </p:nvSpPr>
        <p:spPr>
          <a:xfrm>
            <a:off x="11201400" y="6437376"/>
            <a:ext cx="502920" cy="201168"/>
          </a:xfrm>
          <a:prstGeom prst="rect">
            <a:avLst/>
          </a:prstGeom>
          <a:noFill/>
        </p:spPr>
        <p:txBody>
          <a:bodyPr wrap="square" lIns="36576" rIns="36576" tIns="18288" bIns="18288" anchor="t">
            <a:spAutoFit/>
          </a:bodyPr>
          <a:lstStyle/>
          <a:p>
            <a:pPr algn="r"/>
            <a:r>
              <a:rPr sz="800" b="0">
                <a:solidFill>
                  <a:srgbClr val="475569"/>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698480" cy="475488"/>
          </a:xfrm>
          <a:prstGeom prst="rect">
            <a:avLst/>
          </a:prstGeom>
          <a:noFill/>
        </p:spPr>
        <p:txBody>
          <a:bodyPr wrap="square" lIns="36576" rIns="36576" tIns="18288" bIns="18288" anchor="t">
            <a:spAutoFit/>
          </a:bodyPr>
          <a:lstStyle/>
          <a:p>
            <a:pPr algn="l"/>
            <a:r>
              <a:rPr sz="2600" b="1">
                <a:solidFill>
                  <a:srgbClr val="10243E"/>
                </a:solidFill>
                <a:latin typeface="Arial"/>
              </a:rPr>
              <a:t>8. Gói bằng chứng cần có</a:t>
            </a:r>
          </a:p>
        </p:txBody>
      </p:sp>
      <p:sp>
        <p:nvSpPr>
          <p:cNvPr id="3" name="TextBox 2"/>
          <p:cNvSpPr txBox="1"/>
          <p:nvPr/>
        </p:nvSpPr>
        <p:spPr>
          <a:xfrm>
            <a:off x="594360" y="804672"/>
            <a:ext cx="10515600" cy="329184"/>
          </a:xfrm>
          <a:prstGeom prst="rect">
            <a:avLst/>
          </a:prstGeom>
          <a:noFill/>
        </p:spPr>
        <p:txBody>
          <a:bodyPr wrap="square" lIns="36576" rIns="36576" tIns="18288" bIns="18288" anchor="t">
            <a:spAutoFit/>
          </a:bodyPr>
          <a:lstStyle/>
          <a:p>
            <a:pPr algn="l"/>
            <a:r>
              <a:rPr sz="1220" b="0">
                <a:solidFill>
                  <a:srgbClr val="475569"/>
                </a:solidFill>
                <a:latin typeface="Arial"/>
              </a:rPr>
              <a:t>Để proposal đứng vững, mỗi claim cần một loại evidence tương ứng.</a:t>
            </a:r>
          </a:p>
        </p:txBody>
      </p:sp>
      <p:sp>
        <p:nvSpPr>
          <p:cNvPr id="4" name="Rectangle 3"/>
          <p:cNvSpPr/>
          <p:nvPr/>
        </p:nvSpPr>
        <p:spPr>
          <a:xfrm>
            <a:off x="594360" y="1115568"/>
            <a:ext cx="1234440" cy="36576"/>
          </a:xfrm>
          <a:prstGeom prst="rect">
            <a:avLst/>
          </a:prstGeom>
          <a:solidFill>
            <a:srgbClr val="0082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508760"/>
            <a:ext cx="3840480" cy="749808"/>
          </a:xfrm>
          <a:prstGeom prst="roundRect">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1636776"/>
            <a:ext cx="3584448" cy="292608"/>
          </a:xfrm>
          <a:prstGeom prst="rect">
            <a:avLst/>
          </a:prstGeom>
          <a:noFill/>
        </p:spPr>
        <p:txBody>
          <a:bodyPr wrap="square" lIns="36576" rIns="36576" tIns="18288" bIns="18288" anchor="t">
            <a:spAutoFit/>
          </a:bodyPr>
          <a:lstStyle/>
          <a:p>
            <a:pPr algn="ctr"/>
            <a:r>
              <a:rPr sz="1300" b="1">
                <a:solidFill>
                  <a:srgbClr val="10243E"/>
                </a:solidFill>
                <a:latin typeface="Arial"/>
              </a:rPr>
              <a:t>Descriptor tốt hơn class prompt?</a:t>
            </a:r>
          </a:p>
        </p:txBody>
      </p:sp>
      <p:sp>
        <p:nvSpPr>
          <p:cNvPr id="7" name="TextBox 6"/>
          <p:cNvSpPr txBox="1"/>
          <p:nvPr/>
        </p:nvSpPr>
        <p:spPr>
          <a:xfrm>
            <a:off x="1051560" y="2020824"/>
            <a:ext cx="3474720" cy="128015"/>
          </a:xfrm>
          <a:prstGeom prst="rect">
            <a:avLst/>
          </a:prstGeom>
          <a:noFill/>
        </p:spPr>
        <p:txBody>
          <a:bodyPr wrap="square" lIns="36576" rIns="36576" tIns="18288" bIns="18288" anchor="t">
            <a:spAutoFit/>
          </a:bodyPr>
          <a:lstStyle/>
          <a:p>
            <a:pPr algn="ctr"/>
            <a:r>
              <a:rPr sz="1050" b="0">
                <a:solidFill>
                  <a:srgbClr val="111827"/>
                </a:solidFill>
                <a:latin typeface="Arial"/>
              </a:rPr>
              <a:t/>
            </a:r>
          </a:p>
        </p:txBody>
      </p:sp>
      <p:sp>
        <p:nvSpPr>
          <p:cNvPr id="8" name="TextBox 7"/>
          <p:cNvSpPr txBox="1"/>
          <p:nvPr/>
        </p:nvSpPr>
        <p:spPr>
          <a:xfrm>
            <a:off x="5074920" y="1618488"/>
            <a:ext cx="6263640" cy="457200"/>
          </a:xfrm>
          <a:prstGeom prst="rect">
            <a:avLst/>
          </a:prstGeom>
          <a:noFill/>
        </p:spPr>
        <p:txBody>
          <a:bodyPr wrap="square" lIns="36576" rIns="36576" tIns="18288" bIns="18288" anchor="t">
            <a:spAutoFit/>
          </a:bodyPr>
          <a:lstStyle/>
          <a:p>
            <a:pPr algn="l"/>
            <a:r>
              <a:rPr sz="1600" b="0">
                <a:solidFill>
                  <a:srgbClr val="111827"/>
                </a:solidFill>
                <a:latin typeface="Arial"/>
              </a:rPr>
              <a:t>Ablation class prompt / learned descriptor / AU descriptor</a:t>
            </a:r>
          </a:p>
        </p:txBody>
      </p:sp>
      <p:sp>
        <p:nvSpPr>
          <p:cNvPr id="9" name="Rounded Rectangle 8"/>
          <p:cNvSpPr/>
          <p:nvPr/>
        </p:nvSpPr>
        <p:spPr>
          <a:xfrm>
            <a:off x="868680" y="2560320"/>
            <a:ext cx="3840480" cy="749808"/>
          </a:xfrm>
          <a:prstGeom prst="roundRect">
            <a:avLst/>
          </a:prstGeom>
          <a:solidFill>
            <a:srgbClr val="F6FAFD"/>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688336"/>
            <a:ext cx="3584448" cy="292608"/>
          </a:xfrm>
          <a:prstGeom prst="rect">
            <a:avLst/>
          </a:prstGeom>
          <a:noFill/>
        </p:spPr>
        <p:txBody>
          <a:bodyPr wrap="square" lIns="36576" rIns="36576" tIns="18288" bIns="18288" anchor="t">
            <a:spAutoFit/>
          </a:bodyPr>
          <a:lstStyle/>
          <a:p>
            <a:pPr algn="ctr"/>
            <a:r>
              <a:rPr sz="1300" b="1">
                <a:solidFill>
                  <a:srgbClr val="10243E"/>
                </a:solidFill>
                <a:latin typeface="Arial"/>
              </a:rPr>
              <a:t>Visual branch có được anchor dẫn hướng?</a:t>
            </a:r>
          </a:p>
        </p:txBody>
      </p:sp>
      <p:sp>
        <p:nvSpPr>
          <p:cNvPr id="11" name="TextBox 10"/>
          <p:cNvSpPr txBox="1"/>
          <p:nvPr/>
        </p:nvSpPr>
        <p:spPr>
          <a:xfrm>
            <a:off x="1051560" y="3072384"/>
            <a:ext cx="3474720" cy="128015"/>
          </a:xfrm>
          <a:prstGeom prst="rect">
            <a:avLst/>
          </a:prstGeom>
          <a:noFill/>
        </p:spPr>
        <p:txBody>
          <a:bodyPr wrap="square" lIns="36576" rIns="36576" tIns="18288" bIns="18288" anchor="t">
            <a:spAutoFit/>
          </a:bodyPr>
          <a:lstStyle/>
          <a:p>
            <a:pPr algn="ctr"/>
            <a:r>
              <a:rPr sz="1050" b="0">
                <a:solidFill>
                  <a:srgbClr val="111827"/>
                </a:solidFill>
                <a:latin typeface="Arial"/>
              </a:rPr>
              <a:t/>
            </a:r>
          </a:p>
        </p:txBody>
      </p:sp>
      <p:sp>
        <p:nvSpPr>
          <p:cNvPr id="12" name="TextBox 11"/>
          <p:cNvSpPr txBox="1"/>
          <p:nvPr/>
        </p:nvSpPr>
        <p:spPr>
          <a:xfrm>
            <a:off x="5074920" y="2670048"/>
            <a:ext cx="6263640" cy="457200"/>
          </a:xfrm>
          <a:prstGeom prst="rect">
            <a:avLst/>
          </a:prstGeom>
          <a:noFill/>
        </p:spPr>
        <p:txBody>
          <a:bodyPr wrap="square" lIns="36576" rIns="36576" tIns="18288" bIns="18288" anchor="t">
            <a:spAutoFit/>
          </a:bodyPr>
          <a:lstStyle/>
          <a:p>
            <a:pPr algn="l"/>
            <a:r>
              <a:rPr sz="1600" b="0">
                <a:solidFill>
                  <a:srgbClr val="111827"/>
                </a:solidFill>
                <a:latin typeface="Arial"/>
              </a:rPr>
              <a:t>I2T loss ablation + t-SNE/UMAP/retrieval</a:t>
            </a:r>
          </a:p>
        </p:txBody>
      </p:sp>
      <p:sp>
        <p:nvSpPr>
          <p:cNvPr id="13" name="Rounded Rectangle 12"/>
          <p:cNvSpPr/>
          <p:nvPr/>
        </p:nvSpPr>
        <p:spPr>
          <a:xfrm>
            <a:off x="868680" y="3611879"/>
            <a:ext cx="3840480" cy="749808"/>
          </a:xfrm>
          <a:prstGeom prst="roundRect">
            <a:avLst/>
          </a:prstGeom>
          <a:solidFill>
            <a:srgbClr val="FFFFFF"/>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5" y="3739896"/>
            <a:ext cx="3584448" cy="292608"/>
          </a:xfrm>
          <a:prstGeom prst="rect">
            <a:avLst/>
          </a:prstGeom>
          <a:noFill/>
        </p:spPr>
        <p:txBody>
          <a:bodyPr wrap="square" lIns="36576" rIns="36576" tIns="18288" bIns="18288" anchor="t">
            <a:spAutoFit/>
          </a:bodyPr>
          <a:lstStyle/>
          <a:p>
            <a:pPr algn="ctr"/>
            <a:r>
              <a:rPr sz="1300" b="1">
                <a:solidFill>
                  <a:srgbClr val="10243E"/>
                </a:solidFill>
                <a:latin typeface="Arial"/>
              </a:rPr>
              <a:t>Robust thật hay chỉ tăng accuracy?</a:t>
            </a:r>
          </a:p>
        </p:txBody>
      </p:sp>
      <p:sp>
        <p:nvSpPr>
          <p:cNvPr id="15" name="TextBox 14"/>
          <p:cNvSpPr txBox="1"/>
          <p:nvPr/>
        </p:nvSpPr>
        <p:spPr>
          <a:xfrm>
            <a:off x="1051560" y="4123944"/>
            <a:ext cx="3474720" cy="128015"/>
          </a:xfrm>
          <a:prstGeom prst="rect">
            <a:avLst/>
          </a:prstGeom>
          <a:noFill/>
        </p:spPr>
        <p:txBody>
          <a:bodyPr wrap="square" lIns="36576" rIns="36576" tIns="18288" bIns="18288" anchor="t">
            <a:spAutoFit/>
          </a:bodyPr>
          <a:lstStyle/>
          <a:p>
            <a:pPr algn="ctr"/>
            <a:r>
              <a:rPr sz="1050" b="0">
                <a:solidFill>
                  <a:srgbClr val="111827"/>
                </a:solidFill>
                <a:latin typeface="Arial"/>
              </a:rPr>
              <a:t/>
            </a:r>
          </a:p>
        </p:txBody>
      </p:sp>
      <p:sp>
        <p:nvSpPr>
          <p:cNvPr id="16" name="TextBox 15"/>
          <p:cNvSpPr txBox="1"/>
          <p:nvPr/>
        </p:nvSpPr>
        <p:spPr>
          <a:xfrm>
            <a:off x="5074920" y="3721607"/>
            <a:ext cx="6263640" cy="457200"/>
          </a:xfrm>
          <a:prstGeom prst="rect">
            <a:avLst/>
          </a:prstGeom>
          <a:noFill/>
        </p:spPr>
        <p:txBody>
          <a:bodyPr wrap="square" lIns="36576" rIns="36576" tIns="18288" bIns="18288" anchor="t">
            <a:spAutoFit/>
          </a:bodyPr>
          <a:lstStyle/>
          <a:p>
            <a:pPr algn="l"/>
            <a:r>
              <a:rPr sz="1600" b="0">
                <a:solidFill>
                  <a:srgbClr val="111827"/>
                </a:solidFill>
                <a:latin typeface="Arial"/>
              </a:rPr>
              <a:t>Occlusion/pose/ambiguous subset + confusion matrix</a:t>
            </a:r>
          </a:p>
        </p:txBody>
      </p:sp>
      <p:sp>
        <p:nvSpPr>
          <p:cNvPr id="17" name="Rounded Rectangle 16"/>
          <p:cNvSpPr/>
          <p:nvPr/>
        </p:nvSpPr>
        <p:spPr>
          <a:xfrm>
            <a:off x="868680" y="4663440"/>
            <a:ext cx="3840480" cy="749808"/>
          </a:xfrm>
          <a:prstGeom prst="roundRect">
            <a:avLst/>
          </a:prstGeom>
          <a:solidFill>
            <a:srgbClr val="F6FAFD"/>
          </a:solidFill>
          <a:ln w="1397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5" y="4791455"/>
            <a:ext cx="3584448" cy="292608"/>
          </a:xfrm>
          <a:prstGeom prst="rect">
            <a:avLst/>
          </a:prstGeom>
          <a:noFill/>
        </p:spPr>
        <p:txBody>
          <a:bodyPr wrap="square" lIns="36576" rIns="36576" tIns="18288" bIns="18288" anchor="t">
            <a:spAutoFit/>
          </a:bodyPr>
          <a:lstStyle/>
          <a:p>
            <a:pPr algn="ctr"/>
            <a:r>
              <a:rPr sz="1300" b="1">
                <a:solidFill>
                  <a:srgbClr val="10243E"/>
                </a:solidFill>
                <a:latin typeface="Arial"/>
              </a:rPr>
              <a:t>Uncertainty có ích?</a:t>
            </a:r>
          </a:p>
        </p:txBody>
      </p:sp>
      <p:sp>
        <p:nvSpPr>
          <p:cNvPr id="19" name="TextBox 18"/>
          <p:cNvSpPr txBox="1"/>
          <p:nvPr/>
        </p:nvSpPr>
        <p:spPr>
          <a:xfrm>
            <a:off x="1051560" y="5175504"/>
            <a:ext cx="3474720" cy="128015"/>
          </a:xfrm>
          <a:prstGeom prst="rect">
            <a:avLst/>
          </a:prstGeom>
          <a:noFill/>
        </p:spPr>
        <p:txBody>
          <a:bodyPr wrap="square" lIns="36576" rIns="36576" tIns="18288" bIns="18288" anchor="t">
            <a:spAutoFit/>
          </a:bodyPr>
          <a:lstStyle/>
          <a:p>
            <a:pPr algn="ctr"/>
            <a:r>
              <a:rPr sz="1050" b="0">
                <a:solidFill>
                  <a:srgbClr val="111827"/>
                </a:solidFill>
                <a:latin typeface="Arial"/>
              </a:rPr>
              <a:t/>
            </a:r>
          </a:p>
        </p:txBody>
      </p:sp>
      <p:sp>
        <p:nvSpPr>
          <p:cNvPr id="20" name="TextBox 19"/>
          <p:cNvSpPr txBox="1"/>
          <p:nvPr/>
        </p:nvSpPr>
        <p:spPr>
          <a:xfrm>
            <a:off x="5074920" y="4773168"/>
            <a:ext cx="6263640" cy="457200"/>
          </a:xfrm>
          <a:prstGeom prst="rect">
            <a:avLst/>
          </a:prstGeom>
          <a:noFill/>
        </p:spPr>
        <p:txBody>
          <a:bodyPr wrap="square" lIns="36576" rIns="36576" tIns="18288" bIns="18288" anchor="t">
            <a:spAutoFit/>
          </a:bodyPr>
          <a:lstStyle/>
          <a:p>
            <a:pPr algn="l"/>
            <a:r>
              <a:rPr sz="1600" b="0">
                <a:solidFill>
                  <a:srgbClr val="111827"/>
                </a:solidFill>
                <a:latin typeface="Arial"/>
              </a:rPr>
              <a:t>ECE + uncertainty-quality curve</a:t>
            </a:r>
          </a:p>
        </p:txBody>
      </p:sp>
      <p:sp>
        <p:nvSpPr>
          <p:cNvPr id="21" name="TextBox 20"/>
          <p:cNvSpPr txBox="1"/>
          <p:nvPr/>
        </p:nvSpPr>
        <p:spPr>
          <a:xfrm>
            <a:off x="576072" y="6473952"/>
            <a:ext cx="7772400" cy="182880"/>
          </a:xfrm>
          <a:prstGeom prst="rect">
            <a:avLst/>
          </a:prstGeom>
          <a:noFill/>
        </p:spPr>
        <p:txBody>
          <a:bodyPr wrap="square" lIns="36576" rIns="36576" tIns="18288" bIns="18288" anchor="t">
            <a:spAutoFit/>
          </a:bodyPr>
          <a:lstStyle/>
          <a:p>
            <a:pPr algn="l"/>
            <a:r>
              <a:rPr sz="750" b="0">
                <a:solidFill>
                  <a:srgbClr val="475569"/>
                </a:solidFill>
                <a:latin typeface="Arial"/>
              </a:rPr>
              <a:t>EmotionCLIP-ReID | Research gap &amp; proposal brief</a:t>
            </a:r>
          </a:p>
        </p:txBody>
      </p:sp>
      <p:sp>
        <p:nvSpPr>
          <p:cNvPr id="22" name="TextBox 21"/>
          <p:cNvSpPr txBox="1"/>
          <p:nvPr/>
        </p:nvSpPr>
        <p:spPr>
          <a:xfrm>
            <a:off x="11201400" y="6437376"/>
            <a:ext cx="502920" cy="201168"/>
          </a:xfrm>
          <a:prstGeom prst="rect">
            <a:avLst/>
          </a:prstGeom>
          <a:noFill/>
        </p:spPr>
        <p:txBody>
          <a:bodyPr wrap="square" lIns="36576" rIns="36576" tIns="18288" bIns="18288" anchor="t">
            <a:spAutoFit/>
          </a:bodyPr>
          <a:lstStyle/>
          <a:p>
            <a:pPr algn="r"/>
            <a:r>
              <a:rPr sz="800" b="0">
                <a:solidFill>
                  <a:srgbClr val="475569"/>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20040"/>
            <a:ext cx="10698480" cy="475488"/>
          </a:xfrm>
          <a:prstGeom prst="rect">
            <a:avLst/>
          </a:prstGeom>
          <a:noFill/>
        </p:spPr>
        <p:txBody>
          <a:bodyPr wrap="square" lIns="36576" rIns="36576" tIns="18288" bIns="18288" anchor="t">
            <a:spAutoFit/>
          </a:bodyPr>
          <a:lstStyle/>
          <a:p>
            <a:pPr algn="l"/>
            <a:r>
              <a:rPr sz="2600" b="1">
                <a:solidFill>
                  <a:srgbClr val="10243E"/>
                </a:solidFill>
                <a:latin typeface="Arial"/>
              </a:rPr>
              <a:t>9. Câu hỏi xin ý kiến GVHD</a:t>
            </a:r>
          </a:p>
        </p:txBody>
      </p:sp>
      <p:sp>
        <p:nvSpPr>
          <p:cNvPr id="3" name="TextBox 2"/>
          <p:cNvSpPr txBox="1"/>
          <p:nvPr/>
        </p:nvSpPr>
        <p:spPr>
          <a:xfrm>
            <a:off x="594360" y="804672"/>
            <a:ext cx="10515600" cy="329184"/>
          </a:xfrm>
          <a:prstGeom prst="rect">
            <a:avLst/>
          </a:prstGeom>
          <a:noFill/>
        </p:spPr>
        <p:txBody>
          <a:bodyPr wrap="square" lIns="36576" rIns="36576" tIns="18288" bIns="18288" anchor="t">
            <a:spAutoFit/>
          </a:bodyPr>
          <a:lstStyle/>
          <a:p>
            <a:pPr algn="l"/>
            <a:r>
              <a:rPr sz="1220" b="0">
                <a:solidFill>
                  <a:srgbClr val="475569"/>
                </a:solidFill>
                <a:latin typeface="Arial"/>
              </a:rPr>
              <a:t>Slide này dùng để chốt phạm vi nghiên cứu trước khi triển khai sâu.</a:t>
            </a:r>
          </a:p>
        </p:txBody>
      </p:sp>
      <p:sp>
        <p:nvSpPr>
          <p:cNvPr id="4" name="Rectangle 3"/>
          <p:cNvSpPr/>
          <p:nvPr/>
        </p:nvSpPr>
        <p:spPr>
          <a:xfrm>
            <a:off x="594360" y="1115568"/>
            <a:ext cx="1234440" cy="36576"/>
          </a:xfrm>
          <a:prstGeom prst="rect">
            <a:avLst/>
          </a:prstGeom>
          <a:solidFill>
            <a:srgbClr val="0082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508760"/>
            <a:ext cx="9966960" cy="3566160"/>
          </a:xfrm>
          <a:prstGeom prst="rect">
            <a:avLst/>
          </a:prstGeom>
          <a:noFill/>
        </p:spPr>
        <p:txBody>
          <a:bodyPr wrap="square" lIns="45720" rIns="45720">
            <a:spAutoFit/>
          </a:bodyPr>
          <a:lstStyle/>
          <a:p>
            <a:pPr>
              <a:spcAft>
                <a:spcPts val="800"/>
              </a:spcAft>
              <a:defRPr sz="2000">
                <a:solidFill>
                  <a:srgbClr val="111827"/>
                </a:solidFill>
                <a:latin typeface="Arial"/>
              </a:defRPr>
            </a:pPr>
            <a:r>
              <a:t>Nên ưu tiên dataset/protocol nào để chứng minh robustness: RAF-DB, AffectNet, FERPlus hay subset occlusion/pose?</a:t>
            </a:r>
          </a:p>
          <a:p>
            <a:pPr>
              <a:spcAft>
                <a:spcPts val="800"/>
              </a:spcAft>
              <a:defRPr sz="2000">
                <a:solidFill>
                  <a:srgbClr val="111827"/>
                </a:solidFill>
                <a:latin typeface="Arial"/>
              </a:defRPr>
            </a:pPr>
            <a:r>
              <a:t>V1 có nên dừng ở emotion descriptor + I2T alignment trước khi thêm AU/pseudo-AU không?</a:t>
            </a:r>
          </a:p>
          <a:p>
            <a:pPr>
              <a:spcAft>
                <a:spcPts val="800"/>
              </a:spcAft>
              <a:defRPr sz="2000">
                <a:solidFill>
                  <a:srgbClr val="111827"/>
                </a:solidFill>
                <a:latin typeface="Arial"/>
              </a:defRPr>
            </a:pPr>
            <a:r>
              <a:t>Adapter đặt ở block nào của ViT và cần ablation tối thiểu ra sao?</a:t>
            </a:r>
          </a:p>
          <a:p>
            <a:pPr>
              <a:spcAft>
                <a:spcPts val="800"/>
              </a:spcAft>
              <a:defRPr sz="2000">
                <a:solidFill>
                  <a:srgbClr val="111827"/>
                </a:solidFill>
                <a:latin typeface="Arial"/>
              </a:defRPr>
            </a:pPr>
            <a:r>
              <a:t>Uncertainty nên là contribution phụ hay chỉ là phân tích mở rộng sau baseline?</a:t>
            </a:r>
          </a:p>
        </p:txBody>
      </p:sp>
      <p:sp>
        <p:nvSpPr>
          <p:cNvPr id="6" name="TextBox 5"/>
          <p:cNvSpPr txBox="1"/>
          <p:nvPr/>
        </p:nvSpPr>
        <p:spPr>
          <a:xfrm>
            <a:off x="1143000" y="5623560"/>
            <a:ext cx="9875520" cy="457200"/>
          </a:xfrm>
          <a:prstGeom prst="rect">
            <a:avLst/>
          </a:prstGeom>
          <a:noFill/>
        </p:spPr>
        <p:txBody>
          <a:bodyPr wrap="square" lIns="36576" rIns="36576" tIns="18288" bIns="18288" anchor="t">
            <a:spAutoFit/>
          </a:bodyPr>
          <a:lstStyle/>
          <a:p>
            <a:pPr algn="ctr"/>
            <a:r>
              <a:rPr sz="2200" b="1">
                <a:solidFill>
                  <a:srgbClr val="006B66"/>
                </a:solidFill>
                <a:latin typeface="Arial"/>
              </a:rPr>
              <a:t>Quyết định cần mở khóa: phạm vi v1 và protocol đánh giá chính.</a:t>
            </a:r>
          </a:p>
        </p:txBody>
      </p:sp>
      <p:sp>
        <p:nvSpPr>
          <p:cNvPr id="7" name="TextBox 6"/>
          <p:cNvSpPr txBox="1"/>
          <p:nvPr/>
        </p:nvSpPr>
        <p:spPr>
          <a:xfrm>
            <a:off x="576072" y="6473952"/>
            <a:ext cx="7772400" cy="182880"/>
          </a:xfrm>
          <a:prstGeom prst="rect">
            <a:avLst/>
          </a:prstGeom>
          <a:noFill/>
        </p:spPr>
        <p:txBody>
          <a:bodyPr wrap="square" lIns="36576" rIns="36576" tIns="18288" bIns="18288" anchor="t">
            <a:spAutoFit/>
          </a:bodyPr>
          <a:lstStyle/>
          <a:p>
            <a:pPr algn="l"/>
            <a:r>
              <a:rPr sz="750" b="0">
                <a:solidFill>
                  <a:srgbClr val="475569"/>
                </a:solidFill>
                <a:latin typeface="Arial"/>
              </a:rPr>
              <a:t>EmotionCLIP-ReID | Research gap &amp; proposal brief</a:t>
            </a:r>
          </a:p>
        </p:txBody>
      </p:sp>
      <p:sp>
        <p:nvSpPr>
          <p:cNvPr id="8" name="TextBox 7"/>
          <p:cNvSpPr txBox="1"/>
          <p:nvPr/>
        </p:nvSpPr>
        <p:spPr>
          <a:xfrm>
            <a:off x="11201400" y="6437376"/>
            <a:ext cx="502920" cy="201168"/>
          </a:xfrm>
          <a:prstGeom prst="rect">
            <a:avLst/>
          </a:prstGeom>
          <a:noFill/>
        </p:spPr>
        <p:txBody>
          <a:bodyPr wrap="square" lIns="36576" rIns="36576" tIns="18288" bIns="18288" anchor="t">
            <a:spAutoFit/>
          </a:bodyPr>
          <a:lstStyle/>
          <a:p>
            <a:pPr algn="r"/>
            <a:r>
              <a:rPr sz="800" b="0">
                <a:solidFill>
                  <a:srgbClr val="475569"/>
                </a:solidFill>
                <a:latin typeface="Arial"/>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